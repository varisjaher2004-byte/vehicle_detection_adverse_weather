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e344321b8f49cc" /><Relationship Type="http://schemas.openxmlformats.org/officeDocument/2006/relationships/extended-properties" Target="/docProps/app.xml" Id="R1ee5d00830ce4aad" /><Relationship Type="http://schemas.openxmlformats.org/officeDocument/2006/relationships/officeDocument" Target="/ppt/presentation.xml" Id="R28f712e32f5342f8" /></Relationships>
</file>

<file path=ppt/presentation.xml><?xml version="1.0" encoding="utf-8"?>
<p:presentation xmlns:p="http://schemas.openxmlformats.org/presentationml/2006/main">
  <p:sldMasterIdLst>
    <p:sldMasterId xmlns:r="http://schemas.openxmlformats.org/officeDocument/2006/relationships" id="2147483648" r:id="R564df6b40efa4737"/>
  </p:sldMasterIdLst>
  <p:notesMasterIdLst>
    <p:notesMasterId xmlns:r="http://schemas.openxmlformats.org/officeDocument/2006/relationships" r:id="R9407afb1eccb490d"/>
  </p:notesMasterIdLst>
  <p:sldIdLst>
    <p:sldId xmlns:r="http://schemas.openxmlformats.org/officeDocument/2006/relationships" id="256" r:id="Rbf44a8e19d024c3b"/>
    <p:sldId xmlns:r="http://schemas.openxmlformats.org/officeDocument/2006/relationships" id="257" r:id="Rd18c49cddaed43fc"/>
    <p:sldId xmlns:r="http://schemas.openxmlformats.org/officeDocument/2006/relationships" id="258" r:id="Re51696eea21d4869"/>
    <p:sldId xmlns:r="http://schemas.openxmlformats.org/officeDocument/2006/relationships" id="259" r:id="R0325ea4446ea4c7c"/>
    <p:sldId xmlns:r="http://schemas.openxmlformats.org/officeDocument/2006/relationships" id="260" r:id="R2d68113f288a4247"/>
    <p:sldId xmlns:r="http://schemas.openxmlformats.org/officeDocument/2006/relationships" id="261" r:id="R424784a4d352428c"/>
    <p:sldId xmlns:r="http://schemas.openxmlformats.org/officeDocument/2006/relationships" id="262" r:id="R60bb931461084677"/>
    <p:sldId xmlns:r="http://schemas.openxmlformats.org/officeDocument/2006/relationships" id="263" r:id="R4ce7b48537204218"/>
    <p:sldId xmlns:r="http://schemas.openxmlformats.org/officeDocument/2006/relationships" id="264" r:id="Rd54bba4833364bfb"/>
    <p:sldId xmlns:r="http://schemas.openxmlformats.org/officeDocument/2006/relationships" id="265" r:id="R65726be181ff476d"/>
    <p:sldId xmlns:r="http://schemas.openxmlformats.org/officeDocument/2006/relationships" id="266" r:id="R37e6985aa4ba4bed"/>
    <p:sldId xmlns:r="http://schemas.openxmlformats.org/officeDocument/2006/relationships" id="267" r:id="R011494d341814c13"/>
    <p:sldId xmlns:r="http://schemas.openxmlformats.org/officeDocument/2006/relationships" id="268" r:id="R8b30723b402241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bb5e2976124905" /><Relationship Type="http://schemas.openxmlformats.org/officeDocument/2006/relationships/slideMaster" Target="/ppt/slideMasters/slideMaster1.xml" Id="R564df6b40efa4737" /><Relationship Type="http://schemas.openxmlformats.org/officeDocument/2006/relationships/notesMaster" Target="/ppt/notesMasters/notesMaster1.xml" Id="R9407afb1eccb490d" /><Relationship Type="http://schemas.openxmlformats.org/officeDocument/2006/relationships/presProps" Target="/ppt/presProps.xml" Id="R1ce711446a7c4d23" /><Relationship Type="http://schemas.openxmlformats.org/officeDocument/2006/relationships/tableStyles" Target="/ppt/tableStyles.xml" Id="Ra885edf03f62497b" /><Relationship Type="http://schemas.openxmlformats.org/officeDocument/2006/relationships/slide" Target="/ppt/slides/slide1.xml" Id="Rbf44a8e19d024c3b" /><Relationship Type="http://schemas.openxmlformats.org/officeDocument/2006/relationships/slide" Target="/ppt/slides/slide2.xml" Id="Rd18c49cddaed43fc" /><Relationship Type="http://schemas.openxmlformats.org/officeDocument/2006/relationships/slide" Target="/ppt/slides/slide3.xml" Id="Re51696eea21d4869" /><Relationship Type="http://schemas.openxmlformats.org/officeDocument/2006/relationships/slide" Target="/ppt/slides/slide4.xml" Id="R0325ea4446ea4c7c" /><Relationship Type="http://schemas.openxmlformats.org/officeDocument/2006/relationships/slide" Target="/ppt/slides/slide5.xml" Id="R2d68113f288a4247" /><Relationship Type="http://schemas.openxmlformats.org/officeDocument/2006/relationships/slide" Target="/ppt/slides/slide6.xml" Id="R424784a4d352428c" /><Relationship Type="http://schemas.openxmlformats.org/officeDocument/2006/relationships/slide" Target="/ppt/slides/slide7.xml" Id="R60bb931461084677" /><Relationship Type="http://schemas.openxmlformats.org/officeDocument/2006/relationships/slide" Target="/ppt/slides/slide8.xml" Id="R4ce7b48537204218" /><Relationship Type="http://schemas.openxmlformats.org/officeDocument/2006/relationships/slide" Target="/ppt/slides/slide9.xml" Id="Rd54bba4833364bfb" /><Relationship Type="http://schemas.openxmlformats.org/officeDocument/2006/relationships/slide" Target="/ppt/slides/slide10.xml" Id="R65726be181ff476d" /><Relationship Type="http://schemas.openxmlformats.org/officeDocument/2006/relationships/slide" Target="/ppt/slides/slide11.xml" Id="R37e6985aa4ba4bed" /><Relationship Type="http://schemas.openxmlformats.org/officeDocument/2006/relationships/slide" Target="/ppt/slides/slide12.xml" Id="R011494d341814c13" /><Relationship Type="http://schemas.openxmlformats.org/officeDocument/2006/relationships/slide" Target="/ppt/slides/slide13.xml" Id="R8b30723b402241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95617bb8714e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69539685064109" /><Relationship Type="http://schemas.openxmlformats.org/officeDocument/2006/relationships/notesMaster" Target="/ppt/notesMasters/notesMaster1.xml" Id="R7f33109e2f7e4c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6bdc1e542e4289" /><Relationship Type="http://schemas.openxmlformats.org/officeDocument/2006/relationships/notesMaster" Target="/ppt/notesMasters/notesMaster1.xml" Id="R8951186fe8b845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d92a1a148d4388" /><Relationship Type="http://schemas.openxmlformats.org/officeDocument/2006/relationships/notesMaster" Target="/ppt/notesMasters/notesMaster1.xml" Id="Rd3cdacada92743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54df524b8f41ad" /><Relationship Type="http://schemas.openxmlformats.org/officeDocument/2006/relationships/notesMaster" Target="/ppt/notesMasters/notesMaster1.xml" Id="R5cc17e8bed4546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e1314369e94e33" /><Relationship Type="http://schemas.openxmlformats.org/officeDocument/2006/relationships/notesMaster" Target="/ppt/notesMasters/notesMaster1.xml" Id="Rf7409f059b2246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1137bbf1a446d0" /><Relationship Type="http://schemas.openxmlformats.org/officeDocument/2006/relationships/notesMaster" Target="/ppt/notesMasters/notesMaster1.xml" Id="R85b9aec1f4ce4a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9369a0765e48d0" /><Relationship Type="http://schemas.openxmlformats.org/officeDocument/2006/relationships/notesMaster" Target="/ppt/notesMasters/notesMaster1.xml" Id="Ra26bec487f1e47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24cce0370f4c19" /><Relationship Type="http://schemas.openxmlformats.org/officeDocument/2006/relationships/notesMaster" Target="/ppt/notesMasters/notesMaster1.xml" Id="R4792338c8c3c4f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b687a54f7a4162" /><Relationship Type="http://schemas.openxmlformats.org/officeDocument/2006/relationships/notesMaster" Target="/ppt/notesMasters/notesMaster1.xml" Id="R6fb15a9d424149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466e973e7d434c" /><Relationship Type="http://schemas.openxmlformats.org/officeDocument/2006/relationships/notesMaster" Target="/ppt/notesMasters/notesMaster1.xml" Id="Rae1cef6e15974f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6e06d6089d4749" /><Relationship Type="http://schemas.openxmlformats.org/officeDocument/2006/relationships/notesMaster" Target="/ppt/notesMasters/notesMaster1.xml" Id="R5bd81120c4664f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d27ecf90724512" /><Relationship Type="http://schemas.openxmlformats.org/officeDocument/2006/relationships/notesMaster" Target="/ppt/notesMasters/notesMaster1.xml" Id="R030c9c11791e48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ab38c8cf8a4fdc" /><Relationship Type="http://schemas.openxmlformats.org/officeDocument/2006/relationships/notesMaster" Target="/ppt/notesMasters/notesMaster1.xml" Id="R728651cccd2b4d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evaluates how YOLOv8l vehicle detection changes across adverse conditions and across real-data domains. The title image is an author-generated corrected DAWN prediction cropped only to remove truncated detections at the frame edge; no box, class or confidence was edited. The central discipline is that every quantitative number is a validation-bound estimate. CARLA evidence is retained only as a qualitative engineering diagnostic and never enters the real-data metric matrix.</a:t>
            </a:r>
          </a:p>
          <a:p xmlns:a="http://schemas.openxmlformats.org/drawingml/2006/main">
            <a:r>
              <a:t/>
            </a:r>
          </a:p>
          <a:p xmlns:a="http://schemas.openxmlformats.org/drawingml/2006/main">
            <a:r>
              <a:t>[Sources]</a:t>
            </a:r>
          </a:p>
          <a:p xmlns:a="http://schemas.openxmlformats.org/drawingml/2006/main">
            <a:r>
              <a:t>- Author-generated corrected DAWN qualitative output</a:t>
            </a:r>
          </a:p>
          <a:p xmlns:a="http://schemas.openxmlformats.org/drawingml/2006/main">
            <a:r>
              <a:t>- Author-generated final dissertation, Abstract and Chapter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asks how detection changes under adverse conditions and, more importantly, across real-data domains. The concise answer is that within-domain performance was stronger than direct cross-domain transfer. Joint ACDC and corrected DAWN training produced a better balance across both validation domains, but it did not dominate every metric. Because training used one seed and no independent hold-out test set, this is a descriptive and non-causal conclusion. I therefore avoid claims of architectural superiority or generalized real-world robustness.</a:t>
            </a:r>
          </a:p>
          <a:p xmlns:a="http://schemas.openxmlformats.org/drawingml/2006/main">
            <a:r>
              <a:t/>
            </a:r>
          </a:p>
          <a:p xmlns:a="http://schemas.openxmlformats.org/drawingml/2006/main">
            <a:r>
              <a:t>[Sources]</a:t>
            </a:r>
          </a:p>
          <a:p xmlns:a="http://schemas.openxmlformats.org/drawingml/2006/main">
            <a:r>
              <a:t>- Author-generated final dissertation, Chapters 1, 4 and 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construct validity. The seven-cell matrix contains only protocol-matched Ultralytics validation outputs from ACDC, corrected DAWN and Combined checkpoints. CARLA answers a different question: whether controlled weather and synthetic-night scenes can support engineering and visual diagnostics. Rendering fidelity, ground-truth generation and presentation tracking are not equivalent to real-world validation. Therefore no CARLA number is ranked against ACDC or DAWN. Keeping these evidence streams separate prevents an attractive simulation result from being misreported as empirical real-world performance.</a:t>
            </a:r>
          </a:p>
          <a:p xmlns:a="http://schemas.openxmlformats.org/drawingml/2006/main">
            <a:r>
              <a:t/>
            </a:r>
          </a:p>
          <a:p xmlns:a="http://schemas.openxmlformats.org/drawingml/2006/main">
            <a:r>
              <a:t>[Sources]</a:t>
            </a:r>
          </a:p>
          <a:p xmlns:a="http://schemas.openxmlformats.org/drawingml/2006/main">
            <a:r>
              <a:t>- Author-generated final dissertation, Sections 3.5 and 6.3</a:t>
            </a:r>
          </a:p>
          <a:p xmlns:a="http://schemas.openxmlformats.org/drawingml/2006/main">
            <a:r>
              <a:t>- https://carla.readthedocs.io/en/0.9.16/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protocol combines reproducibility controls with data-integrity controls. Every accepted run used YOLOv8l, 640-pixel images and 100 epochs. Execution used deterministic mode with seed zero, so the study cannot estimate stochastic variance. The archived DAWN numeric class-ID mismatch was corrected non-destructively in a separate label copy before retraining and revalidating all seven cells. Five accepted checkpoints were SHA-256 locked and tied to repository commit 1eb81b5. Dataset support was unequal: ACDC used 1,600 training and 406 validation images, corrected DAWN used 422 and 120, and the combined training pool was 79.1% ACDC. That imbalance is part of the interpretation, not a hidden preprocessing detail.</a:t>
            </a:r>
          </a:p>
          <a:p xmlns:a="http://schemas.openxmlformats.org/drawingml/2006/main">
            <a:r>
              <a:t/>
            </a:r>
          </a:p>
          <a:p xmlns:a="http://schemas.openxmlformats.org/drawingml/2006/main">
            <a:r>
              <a:t>[Sources]</a:t>
            </a:r>
          </a:p>
          <a:p xmlns:a="http://schemas.openxmlformats.org/drawingml/2006/main">
            <a:r>
              <a:t>- Author-generated final dissertation, Sections 3.2–3.7 and Appendix G</a:t>
            </a:r>
          </a:p>
          <a:p xmlns:a="http://schemas.openxmlformats.org/drawingml/2006/main">
            <a:r>
              <a:t>- Author-generated corrected evidence manifest at commit 1eb81b5</a:t>
            </a:r>
          </a:p>
          <a:p xmlns:a="http://schemas.openxmlformats.org/drawingml/2006/main">
            <a:r>
              <a:t>- https://docs.ultralytics.com/modes/train/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seven rows are the complete quantitative evidence boundary: two within-domain controls, two direct transfers, two combined-model domain validations and one combined union validation. Precision, recall, F1, mAP50 and mAP50–95 all come from the same protocol-matched validation rows. A crucial reconciliation is the ACDC-to-DAWN F1. The authoritative unrounded values are precision 0.595542 and recall 0.118977, producing F1 0.198331, reported as 0.1983. The displayed precision and recall are rounded, so recomputing from those display values is not the governing calculation.</a:t>
            </a:r>
          </a:p>
          <a:p xmlns:a="http://schemas.openxmlformats.org/drawingml/2006/main">
            <a:r>
              <a:t/>
            </a:r>
          </a:p>
          <a:p xmlns:a="http://schemas.openxmlformats.org/drawingml/2006/main">
            <a:r>
              <a:t>[Sources]</a:t>
            </a:r>
          </a:p>
          <a:p xmlns:a="http://schemas.openxmlformats.org/drawingml/2006/main">
            <a:r>
              <a:t>- Author-generated Corrected Evidence sheet</a:t>
            </a:r>
          </a:p>
          <a:p xmlns:a="http://schemas.openxmlformats.org/drawingml/2006/main">
            <a:r>
              <a:t>- Author-generated final dissertation, Table 4.1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failure is direct transfer. ACDC-to-DAWN mAP50 falls to 0.1362 and recall to 0.1190. DAWN-to-ACDC mAP50 is 0.1122 with recall 0.1330. The low recall indicates that missed objects are a major observed transfer symptom. Harmonized class names do not harmonize camera response, illumination, scene composition, object scale or annotation policy. The available aggregate rows do not support a complete class-by-weather causal decomposition, so I describe those mechanisms as plausible explanations rather than proven causes. A matched error ledger would be required for class-specific attribution.</a:t>
            </a:r>
          </a:p>
          <a:p xmlns:a="http://schemas.openxmlformats.org/drawingml/2006/main">
            <a:r>
              <a:t/>
            </a:r>
          </a:p>
          <a:p xmlns:a="http://schemas.openxmlformats.org/drawingml/2006/main">
            <a:r>
              <a:t>[Sources]</a:t>
            </a:r>
          </a:p>
          <a:p xmlns:a="http://schemas.openxmlformats.org/drawingml/2006/main">
            <a:r>
              <a:t>- Author-generated cross-domain validation matrix</a:t>
            </a:r>
          </a:p>
          <a:p xmlns:a="http://schemas.openxmlformats.org/drawingml/2006/main">
            <a:r>
              <a:t>- Author-generated final dissertation, Sections 4.2 and 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Combined training improves balance. Its mAP50 is 0.4069 on ACDC and 0.6382 on corrected DAWN, avoiding the severe off-domain collapse of the single-domain checkpoints. However, the DAWN-only within-domain control remains slightly stronger on some DAWN metrics. The defensible conclusion is therefore not that Combined is universally superior. It is the most balanced descriptive outcome across the two recorded validation domains. That distinction matters because the combined pool is also dominated by ACDC images, so aggregate performance can emphasize the larger domain and its common classes.</a:t>
            </a:r>
          </a:p>
          <a:p xmlns:a="http://schemas.openxmlformats.org/drawingml/2006/main">
            <a:r>
              <a:t/>
            </a:r>
          </a:p>
          <a:p xmlns:a="http://schemas.openxmlformats.org/drawingml/2006/main">
            <a:r>
              <a:t>[Sources]</a:t>
            </a:r>
          </a:p>
          <a:p xmlns:a="http://schemas.openxmlformats.org/drawingml/2006/main">
            <a:r>
              <a:t>- Author-generated final dissertation, Table 4.1 and Section 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apparently strong observations require support-aware interpretation. The ACDC validation set contains only three train-class instances. A displayed detection at about 0.83 confidence is one prediction, not class accuracy or evidence of robust train performance. Separately, DAWN Rain reaches mAP50 of 0.9916 on only 42 retained validation images. Repeated framing, similar viewpoints and limited background diversity make a small subset comparatively easy to saturate. Both numbers remain valid for their recorded validation subsets, but neither supports a broad claim. The selected visuals are deliberately successful illustrations and are not representative error analysis.</a:t>
            </a:r>
          </a:p>
          <a:p xmlns:a="http://schemas.openxmlformats.org/drawingml/2006/main">
            <a:r>
              <a:t/>
            </a:r>
          </a:p>
          <a:p xmlns:a="http://schemas.openxmlformats.org/drawingml/2006/main">
            <a:r>
              <a:t>[Sources]</a:t>
            </a:r>
          </a:p>
          <a:p xmlns:a="http://schemas.openxmlformats.org/drawingml/2006/main">
            <a:r>
              <a:t>- Author-generated final dissertation, Sections 4.4, 5.2 and 6.2</a:t>
            </a:r>
          </a:p>
          <a:p xmlns:a="http://schemas.openxmlformats.org/drawingml/2006/main">
            <a:r>
              <a:t>- Author-generated Appendix J class-support evidence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required matched ACDC Fog evidence. Both panels show the same validation frame cropped from the authoritative batch-zero ground-truth and prediction composites. The crop improves legibility only; source pixels, boxes, classes and confidences are unchanged. In this frame, the annotated bus is predicted as train, while other vehicle labels differ across the two panels. That makes the example useful for discussing classification disagreement and possible extra detections. It remains one selected frame, not a frequency estimate, and it cannot substitute for a matched error taxonomy across all seven matrix cells. Full panels are preserved in Appendix J.</a:t>
            </a:r>
          </a:p>
          <a:p xmlns:a="http://schemas.openxmlformats.org/drawingml/2006/main">
            <a:r>
              <a:t/>
            </a:r>
          </a:p>
          <a:p xmlns:a="http://schemas.openxmlformats.org/drawingml/2006/main">
            <a:r>
              <a:t>[Sources]</a:t>
            </a:r>
          </a:p>
          <a:p xmlns:a="http://schemas.openxmlformats.org/drawingml/2006/main">
            <a:r>
              <a:t>- Author-generated ACDC Fog val_batch0_labels.jpg and val_batch0_pred.jpg</a:t>
            </a:r>
          </a:p>
          <a:p xmlns:a="http://schemas.openxmlformats.org/drawingml/2006/main">
            <a:r>
              <a:t>- Author-generated final dissertation, Appendix J</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CARLA remains outside the quantitative matrix. Its value is controlled engineering demonstration: a fixed route, bounded clear, rain and fog settings, and a documented synthetic-night presentation asset. The visual gap to real weather remains substantial. CARLA shaders produce comparatively regular reflections, fog attenuation and wet-asphalt highlights. Real scenes add irregular headlight glare, tyre spray, lens droplets, motion blur, exposure changes, sensor noise and compression artefacts. These feature differences can alter detector inputs even when a scene appears semantically similar. For that reason I make no direct numerical CARLA-to-ACDC or CARLA-to-DAWN comparison.</a:t>
            </a:r>
          </a:p>
          <a:p xmlns:a="http://schemas.openxmlformats.org/drawingml/2006/main">
            <a:r>
              <a:t/>
            </a:r>
          </a:p>
          <a:p xmlns:a="http://schemas.openxmlformats.org/drawingml/2006/main">
            <a:r>
              <a:t>[Sources]</a:t>
            </a:r>
          </a:p>
          <a:p xmlns:a="http://schemas.openxmlformats.org/drawingml/2006/main">
            <a:r>
              <a:t>- Author-generated CARLA diagnostic outputs</a:t>
            </a:r>
          </a:p>
          <a:p xmlns:a="http://schemas.openxmlformats.org/drawingml/2006/main">
            <a:r>
              <a:t>- Author-generated final dissertation, Sections 3.5 and 6.3</a:t>
            </a:r>
          </a:p>
          <a:p xmlns:a="http://schemas.openxmlformats.org/drawingml/2006/main">
            <a:r>
              <a:t>- https://carla.readthedocs.io/en/0.9.16/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limits bound every conclusion. First, checkpoint selection and reporting use validation data rather than an untouched independent hold-out. Second, the single seed provides no variance, confidence interval or significance estimate. Third, unequal class and condition support can make rare-class or small-subset observations unstable. Fourth, the formal evidence register records T13 as not established and T14 to T15 as partial; these statuses are retained rather than converted into passes. Together, these limits mean the study is descriptive and non-causal. They do not invalidate the evidence, but they define exactly what the evidence can support.</a:t>
            </a:r>
          </a:p>
          <a:p xmlns:a="http://schemas.openxmlformats.org/drawingml/2006/main">
            <a:r>
              <a:t/>
            </a:r>
          </a:p>
          <a:p xmlns:a="http://schemas.openxmlformats.org/drawingml/2006/main">
            <a:r>
              <a:t>[Sources]</a:t>
            </a:r>
          </a:p>
          <a:p xmlns:a="http://schemas.openxmlformats.org/drawingml/2006/main">
            <a:r>
              <a:t>- Author-generated final dissertation, Sections 5.2 and 6.4</a:t>
            </a:r>
          </a:p>
          <a:p xmlns:a="http://schemas.openxmlformats.org/drawingml/2006/main">
            <a:r>
              <a:t>- Author-generated Appendix J test register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contribution is an evidence-controlled evaluation workflow. Integrity comes from correcting labels non-destructively. Traceability comes from checkpoint hashes, repository lineage and exact metric reconciliation. Validity comes from keeping non-equivalent simulation outputs outside the real-data matrix. A stronger follow-on study would use multiple seeds, pre-register checkpoint selection, preserve an untouched target-domain hold-out and build a matched error taxonomy covering false negatives, background confusion and localization failures. Those extensions would convert the current descriptive evidence into a more statistically robust assessment.</a:t>
            </a:r>
          </a:p>
          <a:p xmlns:a="http://schemas.openxmlformats.org/drawingml/2006/main">
            <a:r>
              <a:t/>
            </a:r>
          </a:p>
          <a:p xmlns:a="http://schemas.openxmlformats.org/drawingml/2006/main">
            <a:r>
              <a:t>[Sources]</a:t>
            </a:r>
          </a:p>
          <a:p xmlns:a="http://schemas.openxmlformats.org/drawingml/2006/main">
            <a:r>
              <a:t>- Author-generated final dissertation, Chapters 6 and 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conclusion is intentionally narrow: the evidence supports domain dependence, not universal robustness. I welcome questions on the DAWN label correction, the seven-cell design, the F1 reconciliation, support imbalance, single-seed limitations or the CARLA boundary.</a:t>
            </a:r>
          </a:p>
          <a:p xmlns:a="http://schemas.openxmlformats.org/drawingml/2006/main">
            <a:r>
              <a:t/>
            </a:r>
          </a:p>
          <a:p xmlns:a="http://schemas.openxmlformats.org/drawingml/2006/main">
            <a:r>
              <a:t>[Sources]</a:t>
            </a:r>
          </a:p>
          <a:p xmlns:a="http://schemas.openxmlformats.org/drawingml/2006/main">
            <a:r>
              <a:t>- Author-generated final dissertation synthesis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f4fc4ef69043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e97eb49f2c45b7" /><Relationship Type="http://schemas.openxmlformats.org/officeDocument/2006/relationships/slideLayout" Target="/ppt/slideLayouts/slideLayout1.xml" Id="R8d7520d79e3340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520d79e3340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9834e69cc04a6f" /><Relationship Type="http://schemas.openxmlformats.org/officeDocument/2006/relationships/image" Target="/ppt/media/image.jpeg" Id="Rab3586932f924828" /><Relationship Type="http://schemas.openxmlformats.org/officeDocument/2006/relationships/notesSlide" Target="/ppt/notesSlides/notesSlide1.xml" Id="R3fbbda8cc66d4a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8198ea9f7143cd" /><Relationship Type="http://schemas.openxmlformats.org/officeDocument/2006/relationships/notesSlide" Target="/ppt/notesSlides/notesSlide2.xml" Id="R97c261792f3343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dadf904e4f4441" /><Relationship Type="http://schemas.openxmlformats.org/officeDocument/2006/relationships/notesSlide" Target="/ppt/notesSlides/notesSlide3.xml" Id="R632d417b2e4f46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1789a65b404d13" /><Relationship Type="http://schemas.openxmlformats.org/officeDocument/2006/relationships/notesSlide" Target="/ppt/notesSlides/notesSlide4.xml" Id="R0c93efd8ce8a48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f992a5a28d4e6b" /><Relationship Type="http://schemas.openxmlformats.org/officeDocument/2006/relationships/notesSlide" Target="/ppt/notesSlides/notesSlide5.xml" Id="R1ddbd88ad5c441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ae5b3beb76403d" /><Relationship Type="http://schemas.openxmlformats.org/officeDocument/2006/relationships/chart" Target="/ppt/slides/charts/chart1.xml" Id="R0bbf282d03124650" /><Relationship Type="http://schemas.openxmlformats.org/officeDocument/2006/relationships/notesSlide" Target="/ppt/notesSlides/notesSlide6.xml" Id="Rb79a8e263c384d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bc03b9fe8d4e28" /><Relationship Type="http://schemas.openxmlformats.org/officeDocument/2006/relationships/notesSlide" Target="/ppt/notesSlides/notesSlide7.xml" Id="Re6feb36215fa41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2a2f8f72cb4c0b" /><Relationship Type="http://schemas.openxmlformats.org/officeDocument/2006/relationships/notesSlide" Target="/ppt/notesSlides/notesSlide8.xml" Id="R66b18081b1a04e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0d59d4297947c9" /><Relationship Type="http://schemas.openxmlformats.org/officeDocument/2006/relationships/image" Target="/ppt/media/image2.jpeg" Id="Rbf1b42c2db344866" /><Relationship Type="http://schemas.openxmlformats.org/officeDocument/2006/relationships/image" Target="/ppt/media/image3.jpeg" Id="Rdd13abe191ec4159" /><Relationship Type="http://schemas.openxmlformats.org/officeDocument/2006/relationships/notesSlide" Target="/ppt/notesSlides/notesSlide9.xml" Id="Rf0d2e94d245b49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f428f33b5545f0" /><Relationship Type="http://schemas.openxmlformats.org/officeDocument/2006/relationships/image" Target="/ppt/media/image.png" Id="R8315760b03ca49f3" /><Relationship Type="http://schemas.openxmlformats.org/officeDocument/2006/relationships/notesSlide" Target="/ppt/notesSlides/notesSlide10.xml" Id="R73ff9493cbcb45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41e171698794dc1" /><Relationship Type="http://schemas.openxmlformats.org/officeDocument/2006/relationships/notesSlide" Target="/ppt/notesSlides/notesSlide11.xml" Id="Ree0217cfcf0f4f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00bfb7fd7b46b6" /><Relationship Type="http://schemas.openxmlformats.org/officeDocument/2006/relationships/notesSlide" Target="/ppt/notesSlides/notesSlide12.xml" Id="Rd98875ca4aeb4a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c2d6fb5dd854278" /><Relationship Type="http://schemas.openxmlformats.org/officeDocument/2006/relationships/notesSlide" Target="/ppt/notesSlides/notesSlide13.xml" Id="Radafded19e314ab3" /></Relationships>
</file>

<file path=ppt/slides/charts/chart1.xml><?xml version="1.0" encoding="utf-8"?>
<c:chartSpace xmlns:c="http://schemas.openxmlformats.org/drawingml/2006/chart">
  <c:lang val="en-US"/>
  <c:chart>
    <c:plotArea>
      <c:barChart>
        <c:barDir val="bar"/>
        <c:grouping val="clustered"/>
        <c:varyColors val="0"/>
        <c:ser>
          <c:idx val="0"/>
          <c:order val="0"/>
          <c:tx>
            <c:v>mAP@0.5</c:v>
          </c:tx>
          <c:spPr>
            <a:solidFill xmlns:a="http://schemas.openxmlformats.org/drawingml/2006/main">
              <a:srgbClr val="3D8DFF"/>
            </a:solidFill>
          </c:spPr>
          <c:cat>
            <c:strLit>
              <c:ptCount val="7"/>
              <c:pt idx="0">
                <c:v>ACDC→ACDC</c:v>
              </c:pt>
              <c:pt idx="1">
                <c:v>ACDC→DAWN</c:v>
              </c:pt>
              <c:pt idx="2">
                <c:v>DAWN→ACDC</c:v>
              </c:pt>
              <c:pt idx="3">
                <c:v>DAWN→DAWN</c:v>
              </c:pt>
              <c:pt idx="4">
                <c:v>Comb.→ACDC</c:v>
              </c:pt>
              <c:pt idx="5">
                <c:v>Comb.→DAWN</c:v>
              </c:pt>
              <c:pt idx="6">
                <c:v>Comb.→Union</c:v>
              </c:pt>
            </c:strLit>
          </c:cat>
          <c:val>
            <c:numLit>
              <c:formatCode>General</c:formatCode>
              <c:ptCount val="7"/>
              <c:pt idx="0">
                <c:v>0.4221</c:v>
              </c:pt>
              <c:pt idx="1">
                <c:v>0.1362</c:v>
              </c:pt>
              <c:pt idx="2">
                <c:v>0.1122</c:v>
              </c:pt>
              <c:pt idx="3">
                <c:v>0.6277</c:v>
              </c:pt>
              <c:pt idx="4">
                <c:v>0.4069</c:v>
              </c:pt>
              <c:pt idx="5">
                <c:v>0.6382</c:v>
              </c:pt>
              <c:pt idx="6">
                <c:v>0.4472</c:v>
              </c:pt>
            </c:numLit>
          </c:val>
        </c:ser>
        <c:dLbls>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000000"/>
                </a:solidFill>
                <a:latin typeface="Arial"/>
                <a:ea typeface="Arial"/>
                <a:cs typeface="Arial"/>
              </a:defRPr>
            </a:pPr>
          </a:p>
        </c:txPr>
        <c:crossAx val="48672768"/>
      </c:catAx>
      <c:valAx>
        <c:axId val="48672768"/>
        <c:scaling>
          <c:orientation val="minMax"/>
          <c:max val="0.7"/>
          <c:min val="0"/>
        </c:scaling>
        <c:delete val="0"/>
        <c:axPos val="b"/>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1"/>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B6DD0B-451C-4CA2-88CF-9233888B11CB}"/>
              </a:ext>
            </a:extLst>
          </p:cNvPr>
          <p:cNvSpPr>
            <a:spLocks xmlns:a="http://schemas.openxmlformats.org/drawingml/2006/main" noGrp="1"/>
          </p:cNvSpPr>
          <p:nvPr/>
        </p:nvSpPr>
        <p:spPr>
          <a:xfrm xmlns:a="http://schemas.openxmlformats.org/drawingml/2006/main">
            <a:off x="400050" y="4000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3D8DFF"/>
                </a:solidFill>
                <a:latin typeface="Arial"/>
                <a:ea typeface="Arial"/>
                <a:cs typeface="Arial"/>
              </a:defRPr>
            </a:pPr>
            <a:r>
              <a:rPr sz="1050" b="1">
                <a:solidFill>
                  <a:srgbClr val="3D8DFF"/>
                </a:solidFill>
                <a:latin typeface="Arial"/>
                <a:ea typeface="Arial"/>
                <a:cs typeface="Arial"/>
              </a:rPr>
              <a:t>MSC ARTIFICIAL INTELLIGENCE · RESEARCH PROJECT</a:t>
            </a:r>
          </a:p>
        </p:txBody>
      </p:sp>
      <p:sp>
        <p:nvSpPr>
          <p:cNvPr id="2" name="">
            <a:extLst xmlns:a="http://schemas.openxmlformats.org/drawingml/2006/main">
              <a:ext uri="{FF2B5EF4-FFF2-40B4-BE49-F238E27FC236}">
                <a16:creationId xmlns:a16="http://schemas.microsoft.com/office/drawing/2014/main" id="{D399F98C-25EC-4950-8BE6-9DB9F5DDB8D1}"/>
              </a:ext>
            </a:extLst>
          </p:cNvPr>
          <p:cNvSpPr>
            <a:spLocks xmlns:a="http://schemas.openxmlformats.org/drawingml/2006/main" noGrp="1"/>
          </p:cNvSpPr>
          <p:nvPr/>
        </p:nvSpPr>
        <p:spPr>
          <a:xfrm xmlns:a="http://schemas.openxmlformats.org/drawingml/2006/main">
            <a:off x="400050" y="1200150"/>
            <a:ext cx="54768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000000"/>
                </a:solidFill>
                <a:latin typeface="Arial"/>
                <a:ea typeface="Arial"/>
                <a:cs typeface="Arial"/>
              </a:defRPr>
            </a:pPr>
            <a:r>
              <a:rPr sz="3600" b="1">
                <a:solidFill>
                  <a:srgbClr val="000000"/>
                </a:solidFill>
                <a:latin typeface="Arial"/>
                <a:ea typeface="Arial"/>
                <a:cs typeface="Arial"/>
              </a:rPr>
              <a:t>Performance evaluation of YOLO-based vehicle detection under adverse conditions</a:t>
            </a:r>
          </a:p>
        </p:txBody>
      </p:sp>
      <p:sp>
        <p:nvSpPr>
          <p:cNvPr id="3" name="">
            <a:extLst xmlns:a="http://schemas.openxmlformats.org/drawingml/2006/main">
              <a:ext uri="{FF2B5EF4-FFF2-40B4-BE49-F238E27FC236}">
                <a16:creationId xmlns:a16="http://schemas.microsoft.com/office/drawing/2014/main" id="{E3CBAC7A-6FDA-475B-A5CB-63DD72FD9981}"/>
              </a:ext>
            </a:extLst>
          </p:cNvPr>
          <p:cNvSpPr>
            <a:spLocks xmlns:a="http://schemas.openxmlformats.org/drawingml/2006/main" noGrp="1"/>
          </p:cNvSpPr>
          <p:nvPr/>
        </p:nvSpPr>
        <p:spPr>
          <a:xfrm xmlns:a="http://schemas.openxmlformats.org/drawingml/2006/main">
            <a:off x="400050" y="4000500"/>
            <a:ext cx="5334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5F6670"/>
                </a:solidFill>
                <a:latin typeface="Arial"/>
                <a:ea typeface="Arial"/>
                <a:cs typeface="Arial"/>
              </a:defRPr>
            </a:pPr>
            <a:r>
              <a:rPr sz="1725" b="0">
                <a:solidFill>
                  <a:srgbClr val="5F6670"/>
                </a:solidFill>
                <a:latin typeface="Arial"/>
                <a:ea typeface="Arial"/>
                <a:cs typeface="Arial"/>
              </a:rPr>
              <a:t>Validation-bound evidence across ACDC, corrected DAWN and Combined training</a:t>
            </a:r>
          </a:p>
        </p:txBody>
      </p:sp>
      <p:sp>
        <p:nvSpPr>
          <p:cNvPr id="4" name="">
            <a:extLst xmlns:a="http://schemas.openxmlformats.org/drawingml/2006/main">
              <a:ext uri="{FF2B5EF4-FFF2-40B4-BE49-F238E27FC236}">
                <a16:creationId xmlns:a16="http://schemas.microsoft.com/office/drawing/2014/main" id="{9552614F-1BE6-45D1-9380-29DD907CDFF6}"/>
              </a:ext>
            </a:extLst>
          </p:cNvPr>
          <p:cNvSpPr>
            <a:spLocks xmlns:a="http://schemas.openxmlformats.org/drawingml/2006/main" noGrp="1"/>
          </p:cNvSpPr>
          <p:nvPr/>
        </p:nvSpPr>
        <p:spPr>
          <a:xfrm xmlns:a="http://schemas.openxmlformats.org/drawingml/2006/main">
            <a:off x="400050" y="5572125"/>
            <a:ext cx="533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000000"/>
                </a:solidFill>
                <a:latin typeface="Arial"/>
                <a:ea typeface="Arial"/>
                <a:cs typeface="Arial"/>
              </a:defRPr>
            </a:pPr>
            <a:r>
              <a:rPr sz="1275" b="0">
                <a:solidFill>
                  <a:srgbClr val="000000"/>
                </a:solidFill>
                <a:latin typeface="Arial"/>
                <a:ea typeface="Arial"/>
                <a:cs typeface="Arial"/>
              </a:rPr>
              <a:t>Varis Jahirbhai Kureshi · 35042321</a:t>
            </a:r>
          </a:p>
          <a:p xmlns:a="http://schemas.openxmlformats.org/drawingml/2006/main">
            <a:pPr algn="l">
              <a:buNone/>
              <a:defRPr sz="1275" b="0">
                <a:solidFill>
                  <a:srgbClr val="000000"/>
                </a:solidFill>
                <a:latin typeface="Arial"/>
                <a:ea typeface="Arial"/>
                <a:cs typeface="Arial"/>
              </a:defRPr>
            </a:pPr>
            <a:r>
              <a:rPr sz="1275" b="0">
                <a:solidFill>
                  <a:srgbClr val="000000"/>
                </a:solidFill>
                <a:latin typeface="Arial"/>
                <a:ea typeface="Arial"/>
                <a:cs typeface="Arial"/>
              </a:rPr>
              <a:t>Supervisor: Yasir Javed · Sheffield Hallam University</a:t>
            </a:r>
          </a:p>
        </p:txBody>
      </p:sp>
      <p:sp>
        <p:nvSpPr>
          <p:cNvPr id="5" name="">
            <a:extLst xmlns:a="http://schemas.openxmlformats.org/drawingml/2006/main">
              <a:ext uri="{FF2B5EF4-FFF2-40B4-BE49-F238E27FC236}">
                <a16:creationId xmlns:a16="http://schemas.microsoft.com/office/drawing/2014/main" id="{11C702B7-5EF5-453E-A165-F0603FDD2C52}"/>
              </a:ext>
            </a:extLst>
          </p:cNvPr>
          <p:cNvSpPr>
            <a:spLocks xmlns:a="http://schemas.openxmlformats.org/drawingml/2006/main" noGrp="1"/>
          </p:cNvSpPr>
          <p:nvPr/>
        </p:nvSpPr>
        <p:spPr>
          <a:xfrm xmlns:a="http://schemas.openxmlformats.org/drawingml/2006/main">
            <a:off x="6286500" y="400050"/>
            <a:ext cx="5505450" cy="57912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b3586932f924828"/>
          <a:srcRect xmlns:a="http://schemas.openxmlformats.org/drawingml/2006/main" l="58" t="0" r="58" b="0"/>
          <a:stretch xmlns:a="http://schemas.openxmlformats.org/drawingml/2006/main">
            <a:fillRect l="0" t="0" r="0" b="0"/>
          </a:stretch>
        </p:blipFill>
        <p:spPr>
          <a:xfrm xmlns:a="http://schemas.openxmlformats.org/drawingml/2006/main">
            <a:off x="6286500" y="1747242"/>
            <a:ext cx="5505450" cy="3096816"/>
          </a:xfrm>
          <a:prstGeom xmlns:a="http://schemas.openxmlformats.org/drawingml/2006/main" prst="rect">
            <a:avLst/>
          </a:prstGeom>
        </p:spPr>
      </p:pic>
    </p:spTree>
    <p:extLst>
      <p:ext uri="{BB962C8B-B14F-4D97-AF65-F5344CB8AC3E}">
        <p14:creationId xmlns:p14="http://schemas.microsoft.com/office/powerpoint/2010/main" val="21357461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9F93BD-A3AB-4091-A776-3B561DB9EF6F}"/>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Domain shift is the central research challenge</a:t>
            </a:r>
          </a:p>
        </p:txBody>
      </p:sp>
      <p:sp>
        <p:nvSpPr>
          <p:cNvPr id="2" name="">
            <a:extLst xmlns:a="http://schemas.openxmlformats.org/drawingml/2006/main">
              <a:ext uri="{FF2B5EF4-FFF2-40B4-BE49-F238E27FC236}">
                <a16:creationId xmlns:a16="http://schemas.microsoft.com/office/drawing/2014/main" id="{5B1F874D-957D-4F8B-AC1E-DD0CC7ED9B1A}"/>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2AF407C-314D-4908-9424-6DE673EA7B00}"/>
              </a:ext>
            </a:extLst>
          </p:cNvPr>
          <p:cNvSpPr>
            <a:spLocks xmlns:a="http://schemas.openxmlformats.org/drawingml/2006/main" noGrp="1"/>
          </p:cNvSpPr>
          <p:nvPr/>
        </p:nvSpPr>
        <p:spPr>
          <a:xfrm xmlns:a="http://schemas.openxmlformats.org/drawingml/2006/main">
            <a:off x="400050" y="1066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D8DFF"/>
                </a:solidFill>
                <a:latin typeface="Arial"/>
                <a:ea typeface="Arial"/>
                <a:cs typeface="Arial"/>
              </a:defRPr>
            </a:pPr>
            <a:r>
              <a:rPr sz="1050" b="1">
                <a:solidFill>
                  <a:srgbClr val="3D8DFF"/>
                </a:solidFill>
                <a:latin typeface="Arial"/>
                <a:ea typeface="Arial"/>
                <a:cs typeface="Arial"/>
              </a:rPr>
              <a:t>RESEARCH QUESTION</a:t>
            </a:r>
          </a:p>
        </p:txBody>
      </p:sp>
      <p:sp>
        <p:nvSpPr>
          <p:cNvPr id="4" name="">
            <a:extLst xmlns:a="http://schemas.openxmlformats.org/drawingml/2006/main">
              <a:ext uri="{FF2B5EF4-FFF2-40B4-BE49-F238E27FC236}">
                <a16:creationId xmlns:a16="http://schemas.microsoft.com/office/drawing/2014/main" id="{2A2CCADE-1AFF-4930-AFEE-761625EAA2CC}"/>
              </a:ext>
            </a:extLst>
          </p:cNvPr>
          <p:cNvSpPr>
            <a:spLocks xmlns:a="http://schemas.openxmlformats.org/drawingml/2006/main" noGrp="1"/>
          </p:cNvSpPr>
          <p:nvPr/>
        </p:nvSpPr>
        <p:spPr>
          <a:xfrm xmlns:a="http://schemas.openxmlformats.org/drawingml/2006/main">
            <a:off x="400050" y="161925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550" b="1">
                <a:solidFill>
                  <a:srgbClr val="000000"/>
                </a:solidFill>
                <a:latin typeface="Arial"/>
                <a:ea typeface="Arial"/>
                <a:cs typeface="Arial"/>
              </a:defRPr>
            </a:pPr>
            <a:r>
              <a:rPr sz="2550" b="1">
                <a:solidFill>
                  <a:srgbClr val="000000"/>
                </a:solidFill>
                <a:latin typeface="Arial"/>
                <a:ea typeface="Arial"/>
                <a:cs typeface="Arial"/>
              </a:rPr>
              <a:t>How does YOLOv8l vehicle detection change across adverse conditions and across real-data domains?</a:t>
            </a:r>
          </a:p>
        </p:txBody>
      </p:sp>
      <p:sp>
        <p:nvSpPr>
          <p:cNvPr id="5" name="">
            <a:extLst xmlns:a="http://schemas.openxmlformats.org/drawingml/2006/main">
              <a:ext uri="{FF2B5EF4-FFF2-40B4-BE49-F238E27FC236}">
                <a16:creationId xmlns:a16="http://schemas.microsoft.com/office/drawing/2014/main" id="{25C20F07-96E2-448F-A1BB-0449C80FBB11}"/>
              </a:ext>
            </a:extLst>
          </p:cNvPr>
          <p:cNvSpPr>
            <a:spLocks xmlns:a="http://schemas.openxmlformats.org/drawingml/2006/main" noGrp="1"/>
          </p:cNvSpPr>
          <p:nvPr/>
        </p:nvSpPr>
        <p:spPr>
          <a:xfrm xmlns:a="http://schemas.openxmlformats.org/drawingml/2006/main">
            <a:off x="8096250" y="1428750"/>
            <a:ext cx="3333750" cy="3571875"/>
          </a:xfrm>
          <a:prstGeom xmlns:a="http://schemas.openxmlformats.org/drawingml/2006/main" prst="rect">
            <a:avLst/>
          </a:prstGeom>
          <a:solidFill xmlns:a="http://schemas.openxmlformats.org/drawingml/2006/main">
            <a:srgbClr val="153A5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13DAA5-0C7B-4B9D-873F-EC79B72B503B}"/>
              </a:ext>
            </a:extLst>
          </p:cNvPr>
          <p:cNvSpPr>
            <a:spLocks xmlns:a="http://schemas.openxmlformats.org/drawingml/2006/main" noGrp="1"/>
          </p:cNvSpPr>
          <p:nvPr/>
        </p:nvSpPr>
        <p:spPr>
          <a:xfrm xmlns:a="http://schemas.openxmlformats.org/drawingml/2006/main">
            <a:off x="8401050" y="17526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6DCBF4"/>
                </a:solidFill>
                <a:latin typeface="Arial"/>
                <a:ea typeface="Arial"/>
                <a:cs typeface="Arial"/>
              </a:defRPr>
            </a:pPr>
            <a:r>
              <a:rPr sz="1350" b="1">
                <a:solidFill>
                  <a:srgbClr val="6DCBF4"/>
                </a:solidFill>
                <a:latin typeface="Arial"/>
                <a:ea typeface="Arial"/>
                <a:cs typeface="Arial"/>
              </a:rPr>
              <a:t>Answer in one line</a:t>
            </a:r>
          </a:p>
        </p:txBody>
      </p:sp>
      <p:sp>
        <p:nvSpPr>
          <p:cNvPr id="7" name="">
            <a:extLst xmlns:a="http://schemas.openxmlformats.org/drawingml/2006/main">
              <a:ext uri="{FF2B5EF4-FFF2-40B4-BE49-F238E27FC236}">
                <a16:creationId xmlns:a16="http://schemas.microsoft.com/office/drawing/2014/main" id="{8F249415-7DED-458F-9FAD-072C1AEF6A2C}"/>
              </a:ext>
            </a:extLst>
          </p:cNvPr>
          <p:cNvSpPr>
            <a:spLocks xmlns:a="http://schemas.openxmlformats.org/drawingml/2006/main" noGrp="1"/>
          </p:cNvSpPr>
          <p:nvPr/>
        </p:nvSpPr>
        <p:spPr>
          <a:xfrm xmlns:a="http://schemas.openxmlformats.org/drawingml/2006/main">
            <a:off x="8401050" y="2343150"/>
            <a:ext cx="26860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360"/>
          </a:bodyPr>
          <a:lstStyle xmlns:a="http://schemas.openxmlformats.org/drawingml/2006/main"/>
          <a:p xmlns:a="http://schemas.openxmlformats.org/drawingml/2006/main">
            <a:pPr algn="l">
              <a:buNone/>
              <a:defRPr sz="2025" b="0">
                <a:solidFill>
                  <a:srgbClr val="FFFFFF"/>
                </a:solidFill>
                <a:latin typeface="Arial"/>
                <a:ea typeface="Arial"/>
                <a:cs typeface="Arial"/>
              </a:defRPr>
            </a:pPr>
            <a:r>
              <a:rPr sz="2025" b="0">
                <a:solidFill>
                  <a:srgbClr val="FFFFFF"/>
                </a:solidFill>
                <a:latin typeface="Arial"/>
                <a:ea typeface="Arial"/>
                <a:cs typeface="Arial"/>
              </a:rPr>
              <a:t>Within-domain performance was stronger than direct transfer. Combined training improved balance, but did not dominate every metric.</a:t>
            </a:r>
          </a:p>
        </p:txBody>
      </p:sp>
      <p:sp>
        <p:nvSpPr>
          <p:cNvPr id="8" name="">
            <a:extLst xmlns:a="http://schemas.openxmlformats.org/drawingml/2006/main">
              <a:ext uri="{FF2B5EF4-FFF2-40B4-BE49-F238E27FC236}">
                <a16:creationId xmlns:a16="http://schemas.microsoft.com/office/drawing/2014/main" id="{88D21826-F066-403C-A771-5061B6EE5ECD}"/>
              </a:ext>
            </a:extLst>
          </p:cNvPr>
          <p:cNvSpPr>
            <a:spLocks xmlns:a="http://schemas.openxmlformats.org/drawingml/2006/main" noGrp="1"/>
          </p:cNvSpPr>
          <p:nvPr/>
        </p:nvSpPr>
        <p:spPr>
          <a:xfrm xmlns:a="http://schemas.openxmlformats.org/drawingml/2006/main">
            <a:off x="8401050" y="455295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D0EDFA"/>
                </a:solidFill>
                <a:latin typeface="Arial"/>
                <a:ea typeface="Arial"/>
                <a:cs typeface="Arial"/>
              </a:defRPr>
            </a:pPr>
            <a:r>
              <a:rPr sz="1200" b="0">
                <a:solidFill>
                  <a:srgbClr val="D0EDFA"/>
                </a:solidFill>
                <a:latin typeface="Arial"/>
                <a:ea typeface="Arial"/>
                <a:cs typeface="Arial"/>
              </a:rPr>
              <a:t>Descriptive, non-causal conclusion</a:t>
            </a:r>
          </a:p>
        </p:txBody>
      </p:sp>
    </p:spTree>
    <p:extLst>
      <p:ext uri="{BB962C8B-B14F-4D97-AF65-F5344CB8AC3E}">
        <p14:creationId xmlns:p14="http://schemas.microsoft.com/office/powerpoint/2010/main" val="14580830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83C05EA-C2D6-47DE-8C3C-36019EC8A352}"/>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28"/>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Real-data metrics and CARLA evidence answer different questions</a:t>
            </a:r>
          </a:p>
        </p:txBody>
      </p:sp>
      <p:sp>
        <p:nvSpPr>
          <p:cNvPr id="2" name="">
            <a:extLst xmlns:a="http://schemas.openxmlformats.org/drawingml/2006/main">
              <a:ext uri="{FF2B5EF4-FFF2-40B4-BE49-F238E27FC236}">
                <a16:creationId xmlns:a16="http://schemas.microsoft.com/office/drawing/2014/main" id="{B7B2A25A-EF9B-402D-AA07-B39860F92137}"/>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5D43786-BC88-4A40-B475-20C7DE354417}"/>
              </a:ext>
            </a:extLst>
          </p:cNvPr>
          <p:cNvSpPr>
            <a:spLocks xmlns:a="http://schemas.openxmlformats.org/drawingml/2006/main" noGrp="1"/>
          </p:cNvSpPr>
          <p:nvPr/>
        </p:nvSpPr>
        <p:spPr>
          <a:xfrm xmlns:a="http://schemas.openxmlformats.org/drawingml/2006/main">
            <a:off x="400050" y="1428750"/>
            <a:ext cx="5314950" cy="40005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65E8C3-911A-4E17-91EB-5AA2D97B25D7}"/>
              </a:ext>
            </a:extLst>
          </p:cNvPr>
          <p:cNvSpPr>
            <a:spLocks xmlns:a="http://schemas.openxmlformats.org/drawingml/2006/main" noGrp="1"/>
          </p:cNvSpPr>
          <p:nvPr/>
        </p:nvSpPr>
        <p:spPr>
          <a:xfrm xmlns:a="http://schemas.openxmlformats.org/drawingml/2006/main">
            <a:off x="6076950" y="1428750"/>
            <a:ext cx="5314950" cy="4000500"/>
          </a:xfrm>
          <a:prstGeom xmlns:a="http://schemas.openxmlformats.org/drawingml/2006/main" prst="rect">
            <a:avLst/>
          </a:prstGeom>
          <a:solidFill xmlns:a="http://schemas.openxmlformats.org/drawingml/2006/main">
            <a:srgbClr val="F3F3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082C4C-086B-40F4-8A46-F1EEE72F5199}"/>
              </a:ext>
            </a:extLst>
          </p:cNvPr>
          <p:cNvSpPr>
            <a:spLocks xmlns:a="http://schemas.openxmlformats.org/drawingml/2006/main" noGrp="1"/>
          </p:cNvSpPr>
          <p:nvPr/>
        </p:nvSpPr>
        <p:spPr>
          <a:xfrm xmlns:a="http://schemas.openxmlformats.org/drawingml/2006/main">
            <a:off x="704850" y="176212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000000"/>
                </a:solidFill>
                <a:latin typeface="Arial"/>
                <a:ea typeface="Arial"/>
                <a:cs typeface="Arial"/>
              </a:defRPr>
            </a:pPr>
            <a:r>
              <a:rPr sz="2025" b="1">
                <a:solidFill>
                  <a:srgbClr val="000000"/>
                </a:solidFill>
                <a:latin typeface="Arial"/>
                <a:ea typeface="Arial"/>
                <a:cs typeface="Arial"/>
              </a:rPr>
              <a:t>Seven-cell quantitative matrix</a:t>
            </a:r>
          </a:p>
        </p:txBody>
      </p:sp>
      <p:sp>
        <p:nvSpPr>
          <p:cNvPr id="6" name="">
            <a:extLst xmlns:a="http://schemas.openxmlformats.org/drawingml/2006/main">
              <a:ext uri="{FF2B5EF4-FFF2-40B4-BE49-F238E27FC236}">
                <a16:creationId xmlns:a16="http://schemas.microsoft.com/office/drawing/2014/main" id="{C7B1A813-1797-4D60-A5F8-92541ACF1366}"/>
              </a:ext>
            </a:extLst>
          </p:cNvPr>
          <p:cNvSpPr>
            <a:spLocks xmlns:a="http://schemas.openxmlformats.org/drawingml/2006/main" noGrp="1"/>
          </p:cNvSpPr>
          <p:nvPr/>
        </p:nvSpPr>
        <p:spPr>
          <a:xfrm xmlns:a="http://schemas.openxmlformats.org/drawingml/2006/main">
            <a:off x="704850" y="248602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CCD44EA-5CFF-4DAF-BA8C-5D4469FC6838}"/>
              </a:ext>
            </a:extLst>
          </p:cNvPr>
          <p:cNvSpPr>
            <a:spLocks xmlns:a="http://schemas.openxmlformats.org/drawingml/2006/main" noGrp="1"/>
          </p:cNvSpPr>
          <p:nvPr/>
        </p:nvSpPr>
        <p:spPr>
          <a:xfrm xmlns:a="http://schemas.openxmlformats.org/drawingml/2006/main">
            <a:off x="952500" y="240030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ACDC, corrected DAWN and Combined checkpoints</a:t>
            </a:r>
          </a:p>
        </p:txBody>
      </p:sp>
      <p:sp>
        <p:nvSpPr>
          <p:cNvPr id="8" name="">
            <a:extLst xmlns:a="http://schemas.openxmlformats.org/drawingml/2006/main">
              <a:ext uri="{FF2B5EF4-FFF2-40B4-BE49-F238E27FC236}">
                <a16:creationId xmlns:a16="http://schemas.microsoft.com/office/drawing/2014/main" id="{52248A04-D648-492D-9EA8-F884EB0DA140}"/>
              </a:ext>
            </a:extLst>
          </p:cNvPr>
          <p:cNvSpPr>
            <a:spLocks xmlns:a="http://schemas.openxmlformats.org/drawingml/2006/main" noGrp="1"/>
          </p:cNvSpPr>
          <p:nvPr/>
        </p:nvSpPr>
        <p:spPr>
          <a:xfrm xmlns:a="http://schemas.openxmlformats.org/drawingml/2006/main">
            <a:off x="704850" y="31146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194FC3B-F799-45C1-BEC1-8BEC1532782B}"/>
              </a:ext>
            </a:extLst>
          </p:cNvPr>
          <p:cNvSpPr>
            <a:spLocks xmlns:a="http://schemas.openxmlformats.org/drawingml/2006/main" noGrp="1"/>
          </p:cNvSpPr>
          <p:nvPr/>
        </p:nvSpPr>
        <p:spPr>
          <a:xfrm xmlns:a="http://schemas.openxmlformats.org/drawingml/2006/main">
            <a:off x="952500" y="30289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Ultralytics validation metrics</a:t>
            </a:r>
          </a:p>
        </p:txBody>
      </p:sp>
      <p:sp>
        <p:nvSpPr>
          <p:cNvPr id="10" name="">
            <a:extLst xmlns:a="http://schemas.openxmlformats.org/drawingml/2006/main">
              <a:ext uri="{FF2B5EF4-FFF2-40B4-BE49-F238E27FC236}">
                <a16:creationId xmlns:a16="http://schemas.microsoft.com/office/drawing/2014/main" id="{C6FD389A-F3BF-4FB8-AB9A-406D118C7BC4}"/>
              </a:ext>
            </a:extLst>
          </p:cNvPr>
          <p:cNvSpPr>
            <a:spLocks xmlns:a="http://schemas.openxmlformats.org/drawingml/2006/main" noGrp="1"/>
          </p:cNvSpPr>
          <p:nvPr/>
        </p:nvSpPr>
        <p:spPr>
          <a:xfrm xmlns:a="http://schemas.openxmlformats.org/drawingml/2006/main">
            <a:off x="704850" y="374332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9AA708-023D-4FFF-8614-1D313C930640}"/>
              </a:ext>
            </a:extLst>
          </p:cNvPr>
          <p:cNvSpPr>
            <a:spLocks xmlns:a="http://schemas.openxmlformats.org/drawingml/2006/main" noGrp="1"/>
          </p:cNvSpPr>
          <p:nvPr/>
        </p:nvSpPr>
        <p:spPr>
          <a:xfrm xmlns:a="http://schemas.openxmlformats.org/drawingml/2006/main">
            <a:off x="952500" y="365760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Within-domain controls + cross-domain transfer</a:t>
            </a:r>
          </a:p>
        </p:txBody>
      </p:sp>
      <p:sp>
        <p:nvSpPr>
          <p:cNvPr id="12" name="">
            <a:extLst xmlns:a="http://schemas.openxmlformats.org/drawingml/2006/main">
              <a:ext uri="{FF2B5EF4-FFF2-40B4-BE49-F238E27FC236}">
                <a16:creationId xmlns:a16="http://schemas.microsoft.com/office/drawing/2014/main" id="{1FD8B731-0139-4BFC-8F67-1F271209A561}"/>
              </a:ext>
            </a:extLst>
          </p:cNvPr>
          <p:cNvSpPr>
            <a:spLocks xmlns:a="http://schemas.openxmlformats.org/drawingml/2006/main" noGrp="1"/>
          </p:cNvSpPr>
          <p:nvPr/>
        </p:nvSpPr>
        <p:spPr>
          <a:xfrm xmlns:a="http://schemas.openxmlformats.org/drawingml/2006/main">
            <a:off x="704850" y="43719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24B06B-204B-4EA6-9EE0-A6C9B8563663}"/>
              </a:ext>
            </a:extLst>
          </p:cNvPr>
          <p:cNvSpPr>
            <a:spLocks xmlns:a="http://schemas.openxmlformats.org/drawingml/2006/main" noGrp="1"/>
          </p:cNvSpPr>
          <p:nvPr/>
        </p:nvSpPr>
        <p:spPr>
          <a:xfrm xmlns:a="http://schemas.openxmlformats.org/drawingml/2006/main">
            <a:off x="952500" y="42862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Precision, Recall, F1, mAP@0.5, mAP@0.5:0.95</a:t>
            </a:r>
          </a:p>
        </p:txBody>
      </p:sp>
      <p:sp>
        <p:nvSpPr>
          <p:cNvPr id="14" name="">
            <a:extLst xmlns:a="http://schemas.openxmlformats.org/drawingml/2006/main">
              <a:ext uri="{FF2B5EF4-FFF2-40B4-BE49-F238E27FC236}">
                <a16:creationId xmlns:a16="http://schemas.microsoft.com/office/drawing/2014/main" id="{E4D67D3B-47D4-4218-8275-4BEC964F43E1}"/>
              </a:ext>
            </a:extLst>
          </p:cNvPr>
          <p:cNvSpPr>
            <a:spLocks xmlns:a="http://schemas.openxmlformats.org/drawingml/2006/main" noGrp="1"/>
          </p:cNvSpPr>
          <p:nvPr/>
        </p:nvSpPr>
        <p:spPr>
          <a:xfrm xmlns:a="http://schemas.openxmlformats.org/drawingml/2006/main">
            <a:off x="6381750" y="176212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000000"/>
                </a:solidFill>
                <a:latin typeface="Arial"/>
                <a:ea typeface="Arial"/>
                <a:cs typeface="Arial"/>
              </a:defRPr>
            </a:pPr>
            <a:r>
              <a:rPr sz="2025" b="1">
                <a:solidFill>
                  <a:srgbClr val="000000"/>
                </a:solidFill>
                <a:latin typeface="Arial"/>
                <a:ea typeface="Arial"/>
                <a:cs typeface="Arial"/>
              </a:rPr>
              <a:t>CARLA diagnostic assets</a:t>
            </a:r>
          </a:p>
        </p:txBody>
      </p:sp>
      <p:sp>
        <p:nvSpPr>
          <p:cNvPr id="15" name="">
            <a:extLst xmlns:a="http://schemas.openxmlformats.org/drawingml/2006/main">
              <a:ext uri="{FF2B5EF4-FFF2-40B4-BE49-F238E27FC236}">
                <a16:creationId xmlns:a16="http://schemas.microsoft.com/office/drawing/2014/main" id="{EEB616A0-E7E7-4E77-9BF3-F42D69D7BC09}"/>
              </a:ext>
            </a:extLst>
          </p:cNvPr>
          <p:cNvSpPr>
            <a:spLocks xmlns:a="http://schemas.openxmlformats.org/drawingml/2006/main" noGrp="1"/>
          </p:cNvSpPr>
          <p:nvPr/>
        </p:nvSpPr>
        <p:spPr>
          <a:xfrm xmlns:a="http://schemas.openxmlformats.org/drawingml/2006/main">
            <a:off x="6381750" y="248602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F4BA509-4978-4A16-993E-F13135058BB9}"/>
              </a:ext>
            </a:extLst>
          </p:cNvPr>
          <p:cNvSpPr>
            <a:spLocks xmlns:a="http://schemas.openxmlformats.org/drawingml/2006/main" noGrp="1"/>
          </p:cNvSpPr>
          <p:nvPr/>
        </p:nvSpPr>
        <p:spPr>
          <a:xfrm xmlns:a="http://schemas.openxmlformats.org/drawingml/2006/main">
            <a:off x="6629400" y="240030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Bounded clear, rain, fog and synthetic night scenes</a:t>
            </a:r>
          </a:p>
        </p:txBody>
      </p:sp>
      <p:sp>
        <p:nvSpPr>
          <p:cNvPr id="17" name="">
            <a:extLst xmlns:a="http://schemas.openxmlformats.org/drawingml/2006/main">
              <a:ext uri="{FF2B5EF4-FFF2-40B4-BE49-F238E27FC236}">
                <a16:creationId xmlns:a16="http://schemas.microsoft.com/office/drawing/2014/main" id="{7A370A7B-AFB1-43F3-9152-94E0EB38FCBF}"/>
              </a:ext>
            </a:extLst>
          </p:cNvPr>
          <p:cNvSpPr>
            <a:spLocks xmlns:a="http://schemas.openxmlformats.org/drawingml/2006/main" noGrp="1"/>
          </p:cNvSpPr>
          <p:nvPr/>
        </p:nvSpPr>
        <p:spPr>
          <a:xfrm xmlns:a="http://schemas.openxmlformats.org/drawingml/2006/main">
            <a:off x="6381750" y="31146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5E171C-1B52-4E8F-8A78-CCEC51EC4495}"/>
              </a:ext>
            </a:extLst>
          </p:cNvPr>
          <p:cNvSpPr>
            <a:spLocks xmlns:a="http://schemas.openxmlformats.org/drawingml/2006/main" noGrp="1"/>
          </p:cNvSpPr>
          <p:nvPr/>
        </p:nvSpPr>
        <p:spPr>
          <a:xfrm xmlns:a="http://schemas.openxmlformats.org/drawingml/2006/main">
            <a:off x="6629400" y="30289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Engineering and rendering diagnostics</a:t>
            </a:r>
          </a:p>
        </p:txBody>
      </p:sp>
      <p:sp>
        <p:nvSpPr>
          <p:cNvPr id="19" name="">
            <a:extLst xmlns:a="http://schemas.openxmlformats.org/drawingml/2006/main">
              <a:ext uri="{FF2B5EF4-FFF2-40B4-BE49-F238E27FC236}">
                <a16:creationId xmlns:a16="http://schemas.microsoft.com/office/drawing/2014/main" id="{EAE4A49D-7F70-428A-B76E-4869596DA1A0}"/>
              </a:ext>
            </a:extLst>
          </p:cNvPr>
          <p:cNvSpPr>
            <a:spLocks xmlns:a="http://schemas.openxmlformats.org/drawingml/2006/main" noGrp="1"/>
          </p:cNvSpPr>
          <p:nvPr/>
        </p:nvSpPr>
        <p:spPr>
          <a:xfrm xmlns:a="http://schemas.openxmlformats.org/drawingml/2006/main">
            <a:off x="6381750" y="374332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3CADF9F-2A19-46C2-9DB1-191DC8679BF6}"/>
              </a:ext>
            </a:extLst>
          </p:cNvPr>
          <p:cNvSpPr>
            <a:spLocks xmlns:a="http://schemas.openxmlformats.org/drawingml/2006/main" noGrp="1"/>
          </p:cNvSpPr>
          <p:nvPr/>
        </p:nvSpPr>
        <p:spPr>
          <a:xfrm xmlns:a="http://schemas.openxmlformats.org/drawingml/2006/main">
            <a:off x="6629400" y="365760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Qualitative presentation evidence only</a:t>
            </a:r>
          </a:p>
        </p:txBody>
      </p:sp>
      <p:sp>
        <p:nvSpPr>
          <p:cNvPr id="21" name="">
            <a:extLst xmlns:a="http://schemas.openxmlformats.org/drawingml/2006/main">
              <a:ext uri="{FF2B5EF4-FFF2-40B4-BE49-F238E27FC236}">
                <a16:creationId xmlns:a16="http://schemas.microsoft.com/office/drawing/2014/main" id="{C790AFFF-8FE4-4599-A12E-8C20535C05B1}"/>
              </a:ext>
            </a:extLst>
          </p:cNvPr>
          <p:cNvSpPr>
            <a:spLocks xmlns:a="http://schemas.openxmlformats.org/drawingml/2006/main" noGrp="1"/>
          </p:cNvSpPr>
          <p:nvPr/>
        </p:nvSpPr>
        <p:spPr>
          <a:xfrm xmlns:a="http://schemas.openxmlformats.org/drawingml/2006/main">
            <a:off x="6381750" y="43719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14C8AD5-0A62-41FF-B246-3199515C7A20}"/>
              </a:ext>
            </a:extLst>
          </p:cNvPr>
          <p:cNvSpPr>
            <a:spLocks xmlns:a="http://schemas.openxmlformats.org/drawingml/2006/main" noGrp="1"/>
          </p:cNvSpPr>
          <p:nvPr/>
        </p:nvSpPr>
        <p:spPr>
          <a:xfrm xmlns:a="http://schemas.openxmlformats.org/drawingml/2006/main">
            <a:off x="6629400" y="42862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No numerical ranking against ACDC or DAWN</a:t>
            </a:r>
          </a:p>
        </p:txBody>
      </p:sp>
      <p:sp>
        <p:nvSpPr>
          <p:cNvPr id="23" name="">
            <a:extLst xmlns:a="http://schemas.openxmlformats.org/drawingml/2006/main">
              <a:ext uri="{FF2B5EF4-FFF2-40B4-BE49-F238E27FC236}">
                <a16:creationId xmlns:a16="http://schemas.microsoft.com/office/drawing/2014/main" id="{2A76030F-5E8C-43F2-8E01-40431D05A322}"/>
              </a:ext>
            </a:extLst>
          </p:cNvPr>
          <p:cNvSpPr>
            <a:spLocks xmlns:a="http://schemas.openxmlformats.org/drawingml/2006/main" noGrp="1"/>
          </p:cNvSpPr>
          <p:nvPr/>
        </p:nvSpPr>
        <p:spPr>
          <a:xfrm xmlns:a="http://schemas.openxmlformats.org/drawingml/2006/main">
            <a:off x="400050" y="5810250"/>
            <a:ext cx="10991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a:solidFill>
                  <a:srgbClr val="D05A5A"/>
                </a:solidFill>
                <a:latin typeface="Arial"/>
                <a:ea typeface="Arial"/>
                <a:cs typeface="Arial"/>
              </a:defRPr>
            </a:pPr>
            <a:r>
              <a:rPr sz="1875" b="1">
                <a:solidFill>
                  <a:srgbClr val="D05A5A"/>
                </a:solidFill>
                <a:latin typeface="Arial"/>
                <a:ea typeface="Arial"/>
                <a:cs typeface="Arial"/>
              </a:rPr>
              <a:t>No construct mixing</a:t>
            </a:r>
          </a:p>
        </p:txBody>
      </p:sp>
    </p:spTree>
    <p:extLst>
      <p:ext uri="{BB962C8B-B14F-4D97-AF65-F5344CB8AC3E}">
        <p14:creationId xmlns:p14="http://schemas.microsoft.com/office/powerpoint/2010/main" val="21036540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841481A-7108-4228-BD6A-59DB71EEECE9}"/>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The protocol locks training, provenance and reporting</a:t>
            </a:r>
          </a:p>
        </p:txBody>
      </p:sp>
      <p:sp>
        <p:nvSpPr>
          <p:cNvPr id="2" name="">
            <a:extLst xmlns:a="http://schemas.openxmlformats.org/drawingml/2006/main">
              <a:ext uri="{FF2B5EF4-FFF2-40B4-BE49-F238E27FC236}">
                <a16:creationId xmlns:a16="http://schemas.microsoft.com/office/drawing/2014/main" id="{EF3F0169-6BCA-4D46-A433-41C80B5A590A}"/>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C12D7AA-CB52-469F-8DE9-06091858C39D}"/>
              </a:ext>
            </a:extLst>
          </p:cNvPr>
          <p:cNvSpPr>
            <a:spLocks xmlns:a="http://schemas.openxmlformats.org/drawingml/2006/main" noGrp="1"/>
          </p:cNvSpPr>
          <p:nvPr/>
        </p:nvSpPr>
        <p:spPr>
          <a:xfrm xmlns:a="http://schemas.openxmlformats.org/drawingml/2006/main">
            <a:off x="400050" y="1428750"/>
            <a:ext cx="5257800" cy="11239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F7A04E-0CED-4312-9A25-A873ED51A412}"/>
              </a:ext>
            </a:extLst>
          </p:cNvPr>
          <p:cNvSpPr>
            <a:spLocks xmlns:a="http://schemas.openxmlformats.org/drawingml/2006/main" noGrp="1"/>
          </p:cNvSpPr>
          <p:nvPr/>
        </p:nvSpPr>
        <p:spPr>
          <a:xfrm xmlns:a="http://schemas.openxmlformats.org/drawingml/2006/main">
            <a:off x="628650" y="1638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Training</a:t>
            </a:r>
          </a:p>
        </p:txBody>
      </p:sp>
      <p:sp>
        <p:nvSpPr>
          <p:cNvPr id="5" name="">
            <a:extLst xmlns:a="http://schemas.openxmlformats.org/drawingml/2006/main">
              <a:ext uri="{FF2B5EF4-FFF2-40B4-BE49-F238E27FC236}">
                <a16:creationId xmlns:a16="http://schemas.microsoft.com/office/drawing/2014/main" id="{340AC37F-9BDC-4266-AC27-83154C901F74}"/>
              </a:ext>
            </a:extLst>
          </p:cNvPr>
          <p:cNvSpPr>
            <a:spLocks xmlns:a="http://schemas.openxmlformats.org/drawingml/2006/main" noGrp="1"/>
          </p:cNvSpPr>
          <p:nvPr/>
        </p:nvSpPr>
        <p:spPr>
          <a:xfrm xmlns:a="http://schemas.openxmlformats.org/drawingml/2006/main">
            <a:off x="2038350" y="161925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000000"/>
                </a:solidFill>
                <a:latin typeface="Arial"/>
                <a:ea typeface="Arial"/>
                <a:cs typeface="Arial"/>
              </a:defRPr>
            </a:pPr>
            <a:r>
              <a:rPr sz="1575" b="0">
                <a:solidFill>
                  <a:srgbClr val="000000"/>
                </a:solidFill>
                <a:latin typeface="Arial"/>
                <a:ea typeface="Arial"/>
                <a:cs typeface="Arial"/>
              </a:rPr>
              <a:t>YOLOv8l · 640 px · 100 epochs</a:t>
            </a:r>
          </a:p>
        </p:txBody>
      </p:sp>
      <p:sp>
        <p:nvSpPr>
          <p:cNvPr id="6" name="">
            <a:extLst xmlns:a="http://schemas.openxmlformats.org/drawingml/2006/main">
              <a:ext uri="{FF2B5EF4-FFF2-40B4-BE49-F238E27FC236}">
                <a16:creationId xmlns:a16="http://schemas.microsoft.com/office/drawing/2014/main" id="{FFDE04C7-5568-4361-A170-1021D0639449}"/>
              </a:ext>
            </a:extLst>
          </p:cNvPr>
          <p:cNvSpPr>
            <a:spLocks xmlns:a="http://schemas.openxmlformats.org/drawingml/2006/main" noGrp="1"/>
          </p:cNvSpPr>
          <p:nvPr/>
        </p:nvSpPr>
        <p:spPr>
          <a:xfrm xmlns:a="http://schemas.openxmlformats.org/drawingml/2006/main">
            <a:off x="6038850" y="1428750"/>
            <a:ext cx="5257800" cy="11239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3F7F43-C2FA-4A97-A8E1-CD45C7794658}"/>
              </a:ext>
            </a:extLst>
          </p:cNvPr>
          <p:cNvSpPr>
            <a:spLocks xmlns:a="http://schemas.openxmlformats.org/drawingml/2006/main" noGrp="1"/>
          </p:cNvSpPr>
          <p:nvPr/>
        </p:nvSpPr>
        <p:spPr>
          <a:xfrm xmlns:a="http://schemas.openxmlformats.org/drawingml/2006/main">
            <a:off x="6267450" y="1638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Execution</a:t>
            </a:r>
          </a:p>
        </p:txBody>
      </p:sp>
      <p:sp>
        <p:nvSpPr>
          <p:cNvPr id="8" name="">
            <a:extLst xmlns:a="http://schemas.openxmlformats.org/drawingml/2006/main">
              <a:ext uri="{FF2B5EF4-FFF2-40B4-BE49-F238E27FC236}">
                <a16:creationId xmlns:a16="http://schemas.microsoft.com/office/drawing/2014/main" id="{A7942366-168E-4B80-848D-FED9F0FEBA9A}"/>
              </a:ext>
            </a:extLst>
          </p:cNvPr>
          <p:cNvSpPr>
            <a:spLocks xmlns:a="http://schemas.openxmlformats.org/drawingml/2006/main" noGrp="1"/>
          </p:cNvSpPr>
          <p:nvPr/>
        </p:nvSpPr>
        <p:spPr>
          <a:xfrm xmlns:a="http://schemas.openxmlformats.org/drawingml/2006/main">
            <a:off x="7677150" y="161925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000000"/>
                </a:solidFill>
                <a:latin typeface="Arial"/>
                <a:ea typeface="Arial"/>
                <a:cs typeface="Arial"/>
              </a:defRPr>
            </a:pPr>
            <a:r>
              <a:rPr sz="1575" b="0">
                <a:solidFill>
                  <a:srgbClr val="000000"/>
                </a:solidFill>
                <a:latin typeface="Arial"/>
                <a:ea typeface="Arial"/>
                <a:cs typeface="Arial"/>
              </a:rPr>
              <a:t>Seed 0 · deterministic mode · single seed</a:t>
            </a:r>
          </a:p>
        </p:txBody>
      </p:sp>
      <p:sp>
        <p:nvSpPr>
          <p:cNvPr id="9" name="">
            <a:extLst xmlns:a="http://schemas.openxmlformats.org/drawingml/2006/main">
              <a:ext uri="{FF2B5EF4-FFF2-40B4-BE49-F238E27FC236}">
                <a16:creationId xmlns:a16="http://schemas.microsoft.com/office/drawing/2014/main" id="{44B81BF8-45DA-4208-8669-7FEC9BB71AE4}"/>
              </a:ext>
            </a:extLst>
          </p:cNvPr>
          <p:cNvSpPr>
            <a:spLocks xmlns:a="http://schemas.openxmlformats.org/drawingml/2006/main" noGrp="1"/>
          </p:cNvSpPr>
          <p:nvPr/>
        </p:nvSpPr>
        <p:spPr>
          <a:xfrm xmlns:a="http://schemas.openxmlformats.org/drawingml/2006/main">
            <a:off x="400050" y="2857500"/>
            <a:ext cx="5257800" cy="11239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236B11-C861-433E-90A1-2F82B70B4421}"/>
              </a:ext>
            </a:extLst>
          </p:cNvPr>
          <p:cNvSpPr>
            <a:spLocks xmlns:a="http://schemas.openxmlformats.org/drawingml/2006/main" noGrp="1"/>
          </p:cNvSpPr>
          <p:nvPr/>
        </p:nvSpPr>
        <p:spPr>
          <a:xfrm xmlns:a="http://schemas.openxmlformats.org/drawingml/2006/main">
            <a:off x="62865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4"/>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DAWN integrity</a:t>
            </a:r>
          </a:p>
        </p:txBody>
      </p:sp>
      <p:sp>
        <p:nvSpPr>
          <p:cNvPr id="11" name="">
            <a:extLst xmlns:a="http://schemas.openxmlformats.org/drawingml/2006/main">
              <a:ext uri="{FF2B5EF4-FFF2-40B4-BE49-F238E27FC236}">
                <a16:creationId xmlns:a16="http://schemas.microsoft.com/office/drawing/2014/main" id="{FCA28990-3806-46C2-9625-0444C062406D}"/>
              </a:ext>
            </a:extLst>
          </p:cNvPr>
          <p:cNvSpPr>
            <a:spLocks xmlns:a="http://schemas.openxmlformats.org/drawingml/2006/main" noGrp="1"/>
          </p:cNvSpPr>
          <p:nvPr/>
        </p:nvSpPr>
        <p:spPr>
          <a:xfrm xmlns:a="http://schemas.openxmlformats.org/drawingml/2006/main">
            <a:off x="2038350" y="30480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000000"/>
                </a:solidFill>
                <a:latin typeface="Arial"/>
                <a:ea typeface="Arial"/>
                <a:cs typeface="Arial"/>
              </a:defRPr>
            </a:pPr>
            <a:r>
              <a:rPr sz="1575" b="0">
                <a:solidFill>
                  <a:srgbClr val="000000"/>
                </a:solidFill>
                <a:latin typeface="Arial"/>
                <a:ea typeface="Arial"/>
                <a:cs typeface="Arial"/>
              </a:rPr>
              <a:t>Labels corrected non-destructively before retraining</a:t>
            </a:r>
          </a:p>
        </p:txBody>
      </p:sp>
      <p:sp>
        <p:nvSpPr>
          <p:cNvPr id="12" name="">
            <a:extLst xmlns:a="http://schemas.openxmlformats.org/drawingml/2006/main">
              <a:ext uri="{FF2B5EF4-FFF2-40B4-BE49-F238E27FC236}">
                <a16:creationId xmlns:a16="http://schemas.microsoft.com/office/drawing/2014/main" id="{5B9054D1-C02B-445B-8CCF-047899F6118E}"/>
              </a:ext>
            </a:extLst>
          </p:cNvPr>
          <p:cNvSpPr>
            <a:spLocks xmlns:a="http://schemas.openxmlformats.org/drawingml/2006/main" noGrp="1"/>
          </p:cNvSpPr>
          <p:nvPr/>
        </p:nvSpPr>
        <p:spPr>
          <a:xfrm xmlns:a="http://schemas.openxmlformats.org/drawingml/2006/main">
            <a:off x="6038850" y="2857500"/>
            <a:ext cx="5257800" cy="11239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80D562D-F30C-4432-973A-AA19418B4E58}"/>
              </a:ext>
            </a:extLst>
          </p:cNvPr>
          <p:cNvSpPr>
            <a:spLocks xmlns:a="http://schemas.openxmlformats.org/drawingml/2006/main" noGrp="1"/>
          </p:cNvSpPr>
          <p:nvPr/>
        </p:nvSpPr>
        <p:spPr>
          <a:xfrm xmlns:a="http://schemas.openxmlformats.org/drawingml/2006/main">
            <a:off x="626745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Traceability</a:t>
            </a:r>
          </a:p>
        </p:txBody>
      </p:sp>
      <p:sp>
        <p:nvSpPr>
          <p:cNvPr id="14" name="">
            <a:extLst xmlns:a="http://schemas.openxmlformats.org/drawingml/2006/main">
              <a:ext uri="{FF2B5EF4-FFF2-40B4-BE49-F238E27FC236}">
                <a16:creationId xmlns:a16="http://schemas.microsoft.com/office/drawing/2014/main" id="{BA902F93-1B20-4EC4-9079-2EC16C52443B}"/>
              </a:ext>
            </a:extLst>
          </p:cNvPr>
          <p:cNvSpPr>
            <a:spLocks xmlns:a="http://schemas.openxmlformats.org/drawingml/2006/main" noGrp="1"/>
          </p:cNvSpPr>
          <p:nvPr/>
        </p:nvSpPr>
        <p:spPr>
          <a:xfrm xmlns:a="http://schemas.openxmlformats.org/drawingml/2006/main">
            <a:off x="7677150" y="30480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000000"/>
                </a:solidFill>
                <a:latin typeface="Arial"/>
                <a:ea typeface="Arial"/>
                <a:cs typeface="Arial"/>
              </a:defRPr>
            </a:pPr>
            <a:r>
              <a:rPr sz="1575" b="0">
                <a:solidFill>
                  <a:srgbClr val="000000"/>
                </a:solidFill>
                <a:latin typeface="Arial"/>
                <a:ea typeface="Arial"/>
                <a:cs typeface="Arial"/>
              </a:rPr>
              <a:t>Five accepted checkpoints SHA-256 locked · commit 1eb81b5</a:t>
            </a:r>
          </a:p>
        </p:txBody>
      </p:sp>
      <p:sp>
        <p:nvSpPr>
          <p:cNvPr id="15" name="">
            <a:extLst xmlns:a="http://schemas.openxmlformats.org/drawingml/2006/main">
              <a:ext uri="{FF2B5EF4-FFF2-40B4-BE49-F238E27FC236}">
                <a16:creationId xmlns:a16="http://schemas.microsoft.com/office/drawing/2014/main" id="{531887EB-CD2A-4168-B85F-648AFBB34FAD}"/>
              </a:ext>
            </a:extLst>
          </p:cNvPr>
          <p:cNvSpPr>
            <a:spLocks xmlns:a="http://schemas.openxmlformats.org/drawingml/2006/main" noGrp="1"/>
          </p:cNvSpPr>
          <p:nvPr/>
        </p:nvSpPr>
        <p:spPr>
          <a:xfrm xmlns:a="http://schemas.openxmlformats.org/drawingml/2006/main">
            <a:off x="400050" y="4286250"/>
            <a:ext cx="5257800" cy="11239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A9CF232-C548-40CA-BFE3-75EA611AC2BB}"/>
              </a:ext>
            </a:extLst>
          </p:cNvPr>
          <p:cNvSpPr>
            <a:spLocks xmlns:a="http://schemas.openxmlformats.org/drawingml/2006/main" noGrp="1"/>
          </p:cNvSpPr>
          <p:nvPr/>
        </p:nvSpPr>
        <p:spPr>
          <a:xfrm xmlns:a="http://schemas.openxmlformats.org/drawingml/2006/main">
            <a:off x="628650" y="4495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F1</a:t>
            </a:r>
          </a:p>
        </p:txBody>
      </p:sp>
      <p:sp>
        <p:nvSpPr>
          <p:cNvPr id="17" name="">
            <a:extLst xmlns:a="http://schemas.openxmlformats.org/drawingml/2006/main">
              <a:ext uri="{FF2B5EF4-FFF2-40B4-BE49-F238E27FC236}">
                <a16:creationId xmlns:a16="http://schemas.microsoft.com/office/drawing/2014/main" id="{D19D0802-E99D-4734-BCAC-5D7B288BBBB6}"/>
              </a:ext>
            </a:extLst>
          </p:cNvPr>
          <p:cNvSpPr>
            <a:spLocks xmlns:a="http://schemas.openxmlformats.org/drawingml/2006/main" noGrp="1"/>
          </p:cNvSpPr>
          <p:nvPr/>
        </p:nvSpPr>
        <p:spPr>
          <a:xfrm xmlns:a="http://schemas.openxmlformats.org/drawingml/2006/main">
            <a:off x="2038350" y="447675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000000"/>
                </a:solidFill>
                <a:latin typeface="Arial"/>
                <a:ea typeface="Arial"/>
                <a:cs typeface="Arial"/>
              </a:defRPr>
            </a:pPr>
            <a:r>
              <a:rPr sz="1575" b="0">
                <a:solidFill>
                  <a:srgbClr val="000000"/>
                </a:solidFill>
                <a:latin typeface="Arial"/>
                <a:ea typeface="Arial"/>
                <a:cs typeface="Arial"/>
              </a:rPr>
              <a:t>2PR / (P + R) from each exact unrounded row</a:t>
            </a:r>
          </a:p>
        </p:txBody>
      </p:sp>
      <p:sp>
        <p:nvSpPr>
          <p:cNvPr id="18" name="">
            <a:extLst xmlns:a="http://schemas.openxmlformats.org/drawingml/2006/main">
              <a:ext uri="{FF2B5EF4-FFF2-40B4-BE49-F238E27FC236}">
                <a16:creationId xmlns:a16="http://schemas.microsoft.com/office/drawing/2014/main" id="{C53BA7B5-4B77-48F3-8D0E-746C111D8696}"/>
              </a:ext>
            </a:extLst>
          </p:cNvPr>
          <p:cNvSpPr>
            <a:spLocks xmlns:a="http://schemas.openxmlformats.org/drawingml/2006/main" noGrp="1"/>
          </p:cNvSpPr>
          <p:nvPr/>
        </p:nvSpPr>
        <p:spPr>
          <a:xfrm xmlns:a="http://schemas.openxmlformats.org/drawingml/2006/main">
            <a:off x="6038850" y="4286250"/>
            <a:ext cx="5257800" cy="112395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99B3BAC-CF5D-4D09-BE82-F39164580101}"/>
              </a:ext>
            </a:extLst>
          </p:cNvPr>
          <p:cNvSpPr>
            <a:spLocks xmlns:a="http://schemas.openxmlformats.org/drawingml/2006/main" noGrp="1"/>
          </p:cNvSpPr>
          <p:nvPr/>
        </p:nvSpPr>
        <p:spPr>
          <a:xfrm xmlns:a="http://schemas.openxmlformats.org/drawingml/2006/main">
            <a:off x="6267450" y="4495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D05A5A"/>
                </a:solidFill>
                <a:latin typeface="Arial"/>
                <a:ea typeface="Arial"/>
                <a:cs typeface="Arial"/>
              </a:defRPr>
            </a:pPr>
            <a:r>
              <a:rPr sz="1350" b="1">
                <a:solidFill>
                  <a:srgbClr val="D05A5A"/>
                </a:solidFill>
                <a:latin typeface="Arial"/>
                <a:ea typeface="Arial"/>
                <a:cs typeface="Arial"/>
              </a:rPr>
              <a:t>Boundary</a:t>
            </a:r>
          </a:p>
        </p:txBody>
      </p:sp>
      <p:sp>
        <p:nvSpPr>
          <p:cNvPr id="20" name="">
            <a:extLst xmlns:a="http://schemas.openxmlformats.org/drawingml/2006/main">
              <a:ext uri="{FF2B5EF4-FFF2-40B4-BE49-F238E27FC236}">
                <a16:creationId xmlns:a16="http://schemas.microsoft.com/office/drawing/2014/main" id="{BD145A0D-6495-4890-BA77-5B464E764FEC}"/>
              </a:ext>
            </a:extLst>
          </p:cNvPr>
          <p:cNvSpPr>
            <a:spLocks xmlns:a="http://schemas.openxmlformats.org/drawingml/2006/main" noGrp="1"/>
          </p:cNvSpPr>
          <p:nvPr/>
        </p:nvSpPr>
        <p:spPr>
          <a:xfrm xmlns:a="http://schemas.openxmlformats.org/drawingml/2006/main">
            <a:off x="7677150" y="447675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000000"/>
                </a:solidFill>
                <a:latin typeface="Arial"/>
                <a:ea typeface="Arial"/>
                <a:cs typeface="Arial"/>
              </a:defRPr>
            </a:pPr>
            <a:r>
              <a:rPr sz="1575" b="0">
                <a:solidFill>
                  <a:srgbClr val="000000"/>
                </a:solidFill>
                <a:latin typeface="Arial"/>
                <a:ea typeface="Arial"/>
                <a:cs typeface="Arial"/>
              </a:rPr>
              <a:t>Validation estimates—not test accuracy</a:t>
            </a:r>
          </a:p>
        </p:txBody>
      </p:sp>
    </p:spTree>
    <p:extLst>
      <p:ext uri="{BB962C8B-B14F-4D97-AF65-F5344CB8AC3E}">
        <p14:creationId xmlns:p14="http://schemas.microsoft.com/office/powerpoint/2010/main" val="157935681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EF7F3ACF-ACB2-4353-9E15-81AA3957CC04}"/>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25"/>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Seven protocol-matched cells define the quantitative evidence</a:t>
            </a:r>
          </a:p>
        </p:txBody>
      </p:sp>
      <p:sp>
        <p:nvSpPr>
          <p:cNvPr id="2" name="">
            <a:extLst xmlns:a="http://schemas.openxmlformats.org/drawingml/2006/main">
              <a:ext uri="{FF2B5EF4-FFF2-40B4-BE49-F238E27FC236}">
                <a16:creationId xmlns:a16="http://schemas.microsoft.com/office/drawing/2014/main" id="{98D7018A-82D9-4CAB-BEC1-8B04846F4A0C}"/>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9E433F2-64FE-4FF4-A01A-030A4E4F7D15}"/>
              </a:ext>
            </a:extLst>
          </p:cNvPr>
          <p:cNvSpPr>
            <a:spLocks xmlns:a="http://schemas.openxmlformats.org/drawingml/2006/main" noGrp="1"/>
          </p:cNvSpPr>
          <p:nvPr/>
        </p:nvSpPr>
        <p:spPr>
          <a:xfrm xmlns:a="http://schemas.openxmlformats.org/drawingml/2006/main">
            <a:off x="400050" y="1038225"/>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All values are validation-bound estimates</a:t>
            </a:r>
          </a:p>
        </p:txBody>
      </p:sp>
      <p:sp>
        <p:nvSpPr>
          <p:cNvPr id="4" name="">
            <a:extLst xmlns:a="http://schemas.openxmlformats.org/drawingml/2006/main">
              <a:ext uri="{FF2B5EF4-FFF2-40B4-BE49-F238E27FC236}">
                <a16:creationId xmlns:a16="http://schemas.microsoft.com/office/drawing/2014/main" id="{B5AD6678-E031-4570-B31C-E5634EADF6B2}"/>
              </a:ext>
            </a:extLst>
          </p:cNvPr>
          <p:cNvSpPr>
            <a:spLocks xmlns:a="http://schemas.openxmlformats.org/drawingml/2006/main" noGrp="1"/>
          </p:cNvSpPr>
          <p:nvPr/>
        </p:nvSpPr>
        <p:spPr>
          <a:xfrm xmlns:a="http://schemas.openxmlformats.org/drawingml/2006/main">
            <a:off x="400050" y="1524000"/>
            <a:ext cx="2952750" cy="495300"/>
          </a:xfrm>
          <a:prstGeom xmlns:a="http://schemas.openxmlformats.org/drawingml/2006/main" prst="rect">
            <a:avLst/>
          </a:prstGeom>
          <a:solidFill xmlns:a="http://schemas.openxmlformats.org/drawingml/2006/main">
            <a:srgbClr val="153A59"/>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A08F613A-E0E3-4863-8FED-BA0F165B2E66}"/>
              </a:ext>
            </a:extLst>
          </p:cNvPr>
          <p:cNvSpPr>
            <a:spLocks xmlns:a="http://schemas.openxmlformats.org/drawingml/2006/main" noGrp="1"/>
          </p:cNvSpPr>
          <p:nvPr/>
        </p:nvSpPr>
        <p:spPr>
          <a:xfrm xmlns:a="http://schemas.openxmlformats.org/drawingml/2006/main">
            <a:off x="495300" y="16192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Train → validate</a:t>
            </a:r>
          </a:p>
        </p:txBody>
      </p:sp>
      <p:sp>
        <p:nvSpPr>
          <p:cNvPr id="6" name="">
            <a:extLst xmlns:a="http://schemas.openxmlformats.org/drawingml/2006/main">
              <a:ext uri="{FF2B5EF4-FFF2-40B4-BE49-F238E27FC236}">
                <a16:creationId xmlns:a16="http://schemas.microsoft.com/office/drawing/2014/main" id="{6FF58EFE-109B-46DF-BD28-96A49F0C823A}"/>
              </a:ext>
            </a:extLst>
          </p:cNvPr>
          <p:cNvSpPr>
            <a:spLocks xmlns:a="http://schemas.openxmlformats.org/drawingml/2006/main" noGrp="1"/>
          </p:cNvSpPr>
          <p:nvPr/>
        </p:nvSpPr>
        <p:spPr>
          <a:xfrm xmlns:a="http://schemas.openxmlformats.org/drawingml/2006/main">
            <a:off x="3352800" y="1524000"/>
            <a:ext cx="1333500" cy="495300"/>
          </a:xfrm>
          <a:prstGeom xmlns:a="http://schemas.openxmlformats.org/drawingml/2006/main" prst="rect">
            <a:avLst/>
          </a:prstGeom>
          <a:solidFill xmlns:a="http://schemas.openxmlformats.org/drawingml/2006/main">
            <a:srgbClr val="153A59"/>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7323308-B88D-4823-8AA4-C4707685811F}"/>
              </a:ext>
            </a:extLst>
          </p:cNvPr>
          <p:cNvSpPr>
            <a:spLocks xmlns:a="http://schemas.openxmlformats.org/drawingml/2006/main" noGrp="1"/>
          </p:cNvSpPr>
          <p:nvPr/>
        </p:nvSpPr>
        <p:spPr>
          <a:xfrm xmlns:a="http://schemas.openxmlformats.org/drawingml/2006/main">
            <a:off x="3448050" y="16192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P</a:t>
            </a:r>
          </a:p>
        </p:txBody>
      </p:sp>
      <p:sp>
        <p:nvSpPr>
          <p:cNvPr id="8" name="">
            <a:extLst xmlns:a="http://schemas.openxmlformats.org/drawingml/2006/main">
              <a:ext uri="{FF2B5EF4-FFF2-40B4-BE49-F238E27FC236}">
                <a16:creationId xmlns:a16="http://schemas.microsoft.com/office/drawing/2014/main" id="{46BC92EF-A5DB-4DD3-BA3E-1EC5F1F2941C}"/>
              </a:ext>
            </a:extLst>
          </p:cNvPr>
          <p:cNvSpPr>
            <a:spLocks xmlns:a="http://schemas.openxmlformats.org/drawingml/2006/main" noGrp="1"/>
          </p:cNvSpPr>
          <p:nvPr/>
        </p:nvSpPr>
        <p:spPr>
          <a:xfrm xmlns:a="http://schemas.openxmlformats.org/drawingml/2006/main">
            <a:off x="4686300" y="1524000"/>
            <a:ext cx="1333500" cy="495300"/>
          </a:xfrm>
          <a:prstGeom xmlns:a="http://schemas.openxmlformats.org/drawingml/2006/main" prst="rect">
            <a:avLst/>
          </a:prstGeom>
          <a:solidFill xmlns:a="http://schemas.openxmlformats.org/drawingml/2006/main">
            <a:srgbClr val="153A59"/>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36B88F58-E4CE-4592-A6FA-7276D0D90264}"/>
              </a:ext>
            </a:extLst>
          </p:cNvPr>
          <p:cNvSpPr>
            <a:spLocks xmlns:a="http://schemas.openxmlformats.org/drawingml/2006/main" noGrp="1"/>
          </p:cNvSpPr>
          <p:nvPr/>
        </p:nvSpPr>
        <p:spPr>
          <a:xfrm xmlns:a="http://schemas.openxmlformats.org/drawingml/2006/main">
            <a:off x="4781550" y="16192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R</a:t>
            </a:r>
          </a:p>
        </p:txBody>
      </p:sp>
      <p:sp>
        <p:nvSpPr>
          <p:cNvPr id="10" name="">
            <a:extLst xmlns:a="http://schemas.openxmlformats.org/drawingml/2006/main">
              <a:ext uri="{FF2B5EF4-FFF2-40B4-BE49-F238E27FC236}">
                <a16:creationId xmlns:a16="http://schemas.microsoft.com/office/drawing/2014/main" id="{8B8495D3-F78D-45CA-9AAE-2950E81EE5E0}"/>
              </a:ext>
            </a:extLst>
          </p:cNvPr>
          <p:cNvSpPr>
            <a:spLocks xmlns:a="http://schemas.openxmlformats.org/drawingml/2006/main" noGrp="1"/>
          </p:cNvSpPr>
          <p:nvPr/>
        </p:nvSpPr>
        <p:spPr>
          <a:xfrm xmlns:a="http://schemas.openxmlformats.org/drawingml/2006/main">
            <a:off x="6019800" y="1524000"/>
            <a:ext cx="1333500" cy="495300"/>
          </a:xfrm>
          <a:prstGeom xmlns:a="http://schemas.openxmlformats.org/drawingml/2006/main" prst="rect">
            <a:avLst/>
          </a:prstGeom>
          <a:solidFill xmlns:a="http://schemas.openxmlformats.org/drawingml/2006/main">
            <a:srgbClr val="153A59"/>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AE05C059-0E7D-45E3-BE35-AAF8DCD6B643}"/>
              </a:ext>
            </a:extLst>
          </p:cNvPr>
          <p:cNvSpPr>
            <a:spLocks xmlns:a="http://schemas.openxmlformats.org/drawingml/2006/main" noGrp="1"/>
          </p:cNvSpPr>
          <p:nvPr/>
        </p:nvSpPr>
        <p:spPr>
          <a:xfrm xmlns:a="http://schemas.openxmlformats.org/drawingml/2006/main">
            <a:off x="6115050" y="16192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F1</a:t>
            </a:r>
          </a:p>
        </p:txBody>
      </p:sp>
      <p:sp>
        <p:nvSpPr>
          <p:cNvPr id="12" name="">
            <a:extLst xmlns:a="http://schemas.openxmlformats.org/drawingml/2006/main">
              <a:ext uri="{FF2B5EF4-FFF2-40B4-BE49-F238E27FC236}">
                <a16:creationId xmlns:a16="http://schemas.microsoft.com/office/drawing/2014/main" id="{FA0A372F-2FDC-4AB3-BE50-C64D9A2201AB}"/>
              </a:ext>
            </a:extLst>
          </p:cNvPr>
          <p:cNvSpPr>
            <a:spLocks xmlns:a="http://schemas.openxmlformats.org/drawingml/2006/main" noGrp="1"/>
          </p:cNvSpPr>
          <p:nvPr/>
        </p:nvSpPr>
        <p:spPr>
          <a:xfrm xmlns:a="http://schemas.openxmlformats.org/drawingml/2006/main">
            <a:off x="7353300" y="1524000"/>
            <a:ext cx="1905000" cy="495300"/>
          </a:xfrm>
          <a:prstGeom xmlns:a="http://schemas.openxmlformats.org/drawingml/2006/main" prst="rect">
            <a:avLst/>
          </a:prstGeom>
          <a:solidFill xmlns:a="http://schemas.openxmlformats.org/drawingml/2006/main">
            <a:srgbClr val="153A59"/>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398E7511-F2D3-4A20-985C-22E53A0E2F57}"/>
              </a:ext>
            </a:extLst>
          </p:cNvPr>
          <p:cNvSpPr>
            <a:spLocks xmlns:a="http://schemas.openxmlformats.org/drawingml/2006/main" noGrp="1"/>
          </p:cNvSpPr>
          <p:nvPr/>
        </p:nvSpPr>
        <p:spPr>
          <a:xfrm xmlns:a="http://schemas.openxmlformats.org/drawingml/2006/main">
            <a:off x="7448550" y="1619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mAP50</a:t>
            </a:r>
          </a:p>
        </p:txBody>
      </p:sp>
      <p:sp>
        <p:nvSpPr>
          <p:cNvPr id="14" name="">
            <a:extLst xmlns:a="http://schemas.openxmlformats.org/drawingml/2006/main">
              <a:ext uri="{FF2B5EF4-FFF2-40B4-BE49-F238E27FC236}">
                <a16:creationId xmlns:a16="http://schemas.microsoft.com/office/drawing/2014/main" id="{D88F0BBD-F68E-43A2-A339-0FCAA80F8F2C}"/>
              </a:ext>
            </a:extLst>
          </p:cNvPr>
          <p:cNvSpPr>
            <a:spLocks xmlns:a="http://schemas.openxmlformats.org/drawingml/2006/main" noGrp="1"/>
          </p:cNvSpPr>
          <p:nvPr/>
        </p:nvSpPr>
        <p:spPr>
          <a:xfrm xmlns:a="http://schemas.openxmlformats.org/drawingml/2006/main">
            <a:off x="9258300" y="1524000"/>
            <a:ext cx="2133600" cy="495300"/>
          </a:xfrm>
          <a:prstGeom xmlns:a="http://schemas.openxmlformats.org/drawingml/2006/main" prst="rect">
            <a:avLst/>
          </a:prstGeom>
          <a:solidFill xmlns:a="http://schemas.openxmlformats.org/drawingml/2006/main">
            <a:srgbClr val="153A59"/>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02F77E6-7D30-4859-AD86-127D86E21402}"/>
              </a:ext>
            </a:extLst>
          </p:cNvPr>
          <p:cNvSpPr>
            <a:spLocks xmlns:a="http://schemas.openxmlformats.org/drawingml/2006/main" noGrp="1"/>
          </p:cNvSpPr>
          <p:nvPr/>
        </p:nvSpPr>
        <p:spPr>
          <a:xfrm xmlns:a="http://schemas.openxmlformats.org/drawingml/2006/main">
            <a:off x="9353550" y="16192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mAP50–95</a:t>
            </a:r>
          </a:p>
        </p:txBody>
      </p:sp>
      <p:sp>
        <p:nvSpPr>
          <p:cNvPr id="16" name="">
            <a:extLst xmlns:a="http://schemas.openxmlformats.org/drawingml/2006/main">
              <a:ext uri="{FF2B5EF4-FFF2-40B4-BE49-F238E27FC236}">
                <a16:creationId xmlns:a16="http://schemas.microsoft.com/office/drawing/2014/main" id="{F3E3CC28-9BA1-47DB-8C31-1EDBB140A228}"/>
              </a:ext>
            </a:extLst>
          </p:cNvPr>
          <p:cNvSpPr>
            <a:spLocks xmlns:a="http://schemas.openxmlformats.org/drawingml/2006/main" noGrp="1"/>
          </p:cNvSpPr>
          <p:nvPr/>
        </p:nvSpPr>
        <p:spPr>
          <a:xfrm xmlns:a="http://schemas.openxmlformats.org/drawingml/2006/main">
            <a:off x="400050" y="2019300"/>
            <a:ext cx="295275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8906F03A-3E81-4B5F-A650-8AB89387BC38}"/>
              </a:ext>
            </a:extLst>
          </p:cNvPr>
          <p:cNvSpPr>
            <a:spLocks xmlns:a="http://schemas.openxmlformats.org/drawingml/2006/main" noGrp="1"/>
          </p:cNvSpPr>
          <p:nvPr/>
        </p:nvSpPr>
        <p:spPr>
          <a:xfrm xmlns:a="http://schemas.openxmlformats.org/drawingml/2006/main">
            <a:off x="495300" y="21145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000000"/>
                </a:solidFill>
                <a:latin typeface="Arial"/>
                <a:ea typeface="Arial"/>
                <a:cs typeface="Arial"/>
              </a:defRPr>
            </a:pPr>
            <a:r>
              <a:rPr sz="1200" b="0">
                <a:solidFill>
                  <a:srgbClr val="000000"/>
                </a:solidFill>
                <a:latin typeface="Arial"/>
                <a:ea typeface="Arial"/>
                <a:cs typeface="Arial"/>
              </a:rPr>
              <a:t>ACDC → ACDC</a:t>
            </a:r>
          </a:p>
        </p:txBody>
      </p:sp>
      <p:sp>
        <p:nvSpPr>
          <p:cNvPr id="18" name="">
            <a:extLst xmlns:a="http://schemas.openxmlformats.org/drawingml/2006/main">
              <a:ext uri="{FF2B5EF4-FFF2-40B4-BE49-F238E27FC236}">
                <a16:creationId xmlns:a16="http://schemas.microsoft.com/office/drawing/2014/main" id="{0ABE607B-A74A-4D25-ABB9-B8CF41E47EEA}"/>
              </a:ext>
            </a:extLst>
          </p:cNvPr>
          <p:cNvSpPr>
            <a:spLocks xmlns:a="http://schemas.openxmlformats.org/drawingml/2006/main" noGrp="1"/>
          </p:cNvSpPr>
          <p:nvPr/>
        </p:nvSpPr>
        <p:spPr>
          <a:xfrm xmlns:a="http://schemas.openxmlformats.org/drawingml/2006/main">
            <a:off x="3352800" y="20193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A2FA0060-13DB-45E5-B0D2-9730B2068612}"/>
              </a:ext>
            </a:extLst>
          </p:cNvPr>
          <p:cNvSpPr>
            <a:spLocks xmlns:a="http://schemas.openxmlformats.org/drawingml/2006/main" noGrp="1"/>
          </p:cNvSpPr>
          <p:nvPr/>
        </p:nvSpPr>
        <p:spPr>
          <a:xfrm xmlns:a="http://schemas.openxmlformats.org/drawingml/2006/main">
            <a:off x="3448050" y="21145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.6226</a:t>
            </a:r>
          </a:p>
        </p:txBody>
      </p:sp>
      <p:sp>
        <p:nvSpPr>
          <p:cNvPr id="20" name="">
            <a:extLst xmlns:a="http://schemas.openxmlformats.org/drawingml/2006/main">
              <a:ext uri="{FF2B5EF4-FFF2-40B4-BE49-F238E27FC236}">
                <a16:creationId xmlns:a16="http://schemas.microsoft.com/office/drawing/2014/main" id="{A61C2526-5CED-423D-AC24-224B37C5FF9E}"/>
              </a:ext>
            </a:extLst>
          </p:cNvPr>
          <p:cNvSpPr>
            <a:spLocks xmlns:a="http://schemas.openxmlformats.org/drawingml/2006/main" noGrp="1"/>
          </p:cNvSpPr>
          <p:nvPr/>
        </p:nvSpPr>
        <p:spPr>
          <a:xfrm xmlns:a="http://schemas.openxmlformats.org/drawingml/2006/main">
            <a:off x="4686300" y="20193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7D714413-4100-4DF0-929A-4980D4DD034B}"/>
              </a:ext>
            </a:extLst>
          </p:cNvPr>
          <p:cNvSpPr>
            <a:spLocks xmlns:a="http://schemas.openxmlformats.org/drawingml/2006/main" noGrp="1"/>
          </p:cNvSpPr>
          <p:nvPr/>
        </p:nvSpPr>
        <p:spPr>
          <a:xfrm xmlns:a="http://schemas.openxmlformats.org/drawingml/2006/main">
            <a:off x="4781550" y="21145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.4014</a:t>
            </a:r>
          </a:p>
        </p:txBody>
      </p:sp>
      <p:sp>
        <p:nvSpPr>
          <p:cNvPr id="22" name="">
            <a:extLst xmlns:a="http://schemas.openxmlformats.org/drawingml/2006/main">
              <a:ext uri="{FF2B5EF4-FFF2-40B4-BE49-F238E27FC236}">
                <a16:creationId xmlns:a16="http://schemas.microsoft.com/office/drawing/2014/main" id="{52F21523-3B67-4F36-93F3-03030B7B5FA2}"/>
              </a:ext>
            </a:extLst>
          </p:cNvPr>
          <p:cNvSpPr>
            <a:spLocks xmlns:a="http://schemas.openxmlformats.org/drawingml/2006/main" noGrp="1"/>
          </p:cNvSpPr>
          <p:nvPr/>
        </p:nvSpPr>
        <p:spPr>
          <a:xfrm xmlns:a="http://schemas.openxmlformats.org/drawingml/2006/main">
            <a:off x="6019800" y="20193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3FA20C10-C57E-4FA2-98F3-A4BC50BBB73B}"/>
              </a:ext>
            </a:extLst>
          </p:cNvPr>
          <p:cNvSpPr>
            <a:spLocks xmlns:a="http://schemas.openxmlformats.org/drawingml/2006/main" noGrp="1"/>
          </p:cNvSpPr>
          <p:nvPr/>
        </p:nvSpPr>
        <p:spPr>
          <a:xfrm xmlns:a="http://schemas.openxmlformats.org/drawingml/2006/main">
            <a:off x="6115050" y="21145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.4881</a:t>
            </a:r>
          </a:p>
        </p:txBody>
      </p:sp>
      <p:sp>
        <p:nvSpPr>
          <p:cNvPr id="24" name="">
            <a:extLst xmlns:a="http://schemas.openxmlformats.org/drawingml/2006/main">
              <a:ext uri="{FF2B5EF4-FFF2-40B4-BE49-F238E27FC236}">
                <a16:creationId xmlns:a16="http://schemas.microsoft.com/office/drawing/2014/main" id="{9DD48D65-737F-41E4-8A5A-8ADDEA3CA029}"/>
              </a:ext>
            </a:extLst>
          </p:cNvPr>
          <p:cNvSpPr>
            <a:spLocks xmlns:a="http://schemas.openxmlformats.org/drawingml/2006/main" noGrp="1"/>
          </p:cNvSpPr>
          <p:nvPr/>
        </p:nvSpPr>
        <p:spPr>
          <a:xfrm xmlns:a="http://schemas.openxmlformats.org/drawingml/2006/main">
            <a:off x="7353300" y="2019300"/>
            <a:ext cx="19050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81AC3FE6-BE76-4024-992C-6C7C7DCAE7D4}"/>
              </a:ext>
            </a:extLst>
          </p:cNvPr>
          <p:cNvSpPr>
            <a:spLocks xmlns:a="http://schemas.openxmlformats.org/drawingml/2006/main" noGrp="1"/>
          </p:cNvSpPr>
          <p:nvPr/>
        </p:nvSpPr>
        <p:spPr>
          <a:xfrm xmlns:a="http://schemas.openxmlformats.org/drawingml/2006/main">
            <a:off x="7448550" y="21145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.4221</a:t>
            </a:r>
          </a:p>
        </p:txBody>
      </p:sp>
      <p:sp>
        <p:nvSpPr>
          <p:cNvPr id="26" name="">
            <a:extLst xmlns:a="http://schemas.openxmlformats.org/drawingml/2006/main">
              <a:ext uri="{FF2B5EF4-FFF2-40B4-BE49-F238E27FC236}">
                <a16:creationId xmlns:a16="http://schemas.microsoft.com/office/drawing/2014/main" id="{DE5C89F8-5090-495E-8A1D-68883EB9B4E3}"/>
              </a:ext>
            </a:extLst>
          </p:cNvPr>
          <p:cNvSpPr>
            <a:spLocks xmlns:a="http://schemas.openxmlformats.org/drawingml/2006/main" noGrp="1"/>
          </p:cNvSpPr>
          <p:nvPr/>
        </p:nvSpPr>
        <p:spPr>
          <a:xfrm xmlns:a="http://schemas.openxmlformats.org/drawingml/2006/main">
            <a:off x="9258300" y="2019300"/>
            <a:ext cx="21336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564F14AA-8BD4-44FA-BBE6-FC89234160C4}"/>
              </a:ext>
            </a:extLst>
          </p:cNvPr>
          <p:cNvSpPr>
            <a:spLocks xmlns:a="http://schemas.openxmlformats.org/drawingml/2006/main" noGrp="1"/>
          </p:cNvSpPr>
          <p:nvPr/>
        </p:nvSpPr>
        <p:spPr>
          <a:xfrm xmlns:a="http://schemas.openxmlformats.org/drawingml/2006/main">
            <a:off x="9353550" y="21145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.2634</a:t>
            </a:r>
          </a:p>
        </p:txBody>
      </p:sp>
      <p:sp>
        <p:nvSpPr>
          <p:cNvPr id="28" name="">
            <a:extLst xmlns:a="http://schemas.openxmlformats.org/drawingml/2006/main">
              <a:ext uri="{FF2B5EF4-FFF2-40B4-BE49-F238E27FC236}">
                <a16:creationId xmlns:a16="http://schemas.microsoft.com/office/drawing/2014/main" id="{77F5D33F-E578-4C54-89B3-FA7C0921D766}"/>
              </a:ext>
            </a:extLst>
          </p:cNvPr>
          <p:cNvSpPr>
            <a:spLocks xmlns:a="http://schemas.openxmlformats.org/drawingml/2006/main" noGrp="1"/>
          </p:cNvSpPr>
          <p:nvPr/>
        </p:nvSpPr>
        <p:spPr>
          <a:xfrm xmlns:a="http://schemas.openxmlformats.org/drawingml/2006/main">
            <a:off x="400050" y="2514600"/>
            <a:ext cx="2952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9" name="">
            <a:extLst xmlns:a="http://schemas.openxmlformats.org/drawingml/2006/main">
              <a:ext uri="{FF2B5EF4-FFF2-40B4-BE49-F238E27FC236}">
                <a16:creationId xmlns:a16="http://schemas.microsoft.com/office/drawing/2014/main" id="{480CB09A-205D-48B8-8736-8DF70F8C8C91}"/>
              </a:ext>
            </a:extLst>
          </p:cNvPr>
          <p:cNvSpPr>
            <a:spLocks xmlns:a="http://schemas.openxmlformats.org/drawingml/2006/main" noGrp="1"/>
          </p:cNvSpPr>
          <p:nvPr/>
        </p:nvSpPr>
        <p:spPr>
          <a:xfrm xmlns:a="http://schemas.openxmlformats.org/drawingml/2006/main">
            <a:off x="495300" y="26098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000000"/>
                </a:solidFill>
                <a:latin typeface="Arial"/>
                <a:ea typeface="Arial"/>
                <a:cs typeface="Arial"/>
              </a:defRPr>
            </a:pPr>
            <a:r>
              <a:rPr sz="1200" b="0">
                <a:solidFill>
                  <a:srgbClr val="000000"/>
                </a:solidFill>
                <a:latin typeface="Arial"/>
                <a:ea typeface="Arial"/>
                <a:cs typeface="Arial"/>
              </a:rPr>
              <a:t>ACDC → DAWN</a:t>
            </a:r>
          </a:p>
        </p:txBody>
      </p:sp>
      <p:sp>
        <p:nvSpPr>
          <p:cNvPr id="30" name="">
            <a:extLst xmlns:a="http://schemas.openxmlformats.org/drawingml/2006/main">
              <a:ext uri="{FF2B5EF4-FFF2-40B4-BE49-F238E27FC236}">
                <a16:creationId xmlns:a16="http://schemas.microsoft.com/office/drawing/2014/main" id="{FAD84D17-672A-457B-98D0-2AC136921B6E}"/>
              </a:ext>
            </a:extLst>
          </p:cNvPr>
          <p:cNvSpPr>
            <a:spLocks xmlns:a="http://schemas.openxmlformats.org/drawingml/2006/main" noGrp="1"/>
          </p:cNvSpPr>
          <p:nvPr/>
        </p:nvSpPr>
        <p:spPr>
          <a:xfrm xmlns:a="http://schemas.openxmlformats.org/drawingml/2006/main">
            <a:off x="3352800" y="25146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2343CE8E-2EB4-41AA-942C-1C9FDC3084FA}"/>
              </a:ext>
            </a:extLst>
          </p:cNvPr>
          <p:cNvSpPr>
            <a:spLocks xmlns:a="http://schemas.openxmlformats.org/drawingml/2006/main" noGrp="1"/>
          </p:cNvSpPr>
          <p:nvPr/>
        </p:nvSpPr>
        <p:spPr>
          <a:xfrm xmlns:a="http://schemas.openxmlformats.org/drawingml/2006/main">
            <a:off x="3448050" y="26098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.5955</a:t>
            </a:r>
          </a:p>
        </p:txBody>
      </p:sp>
      <p:sp>
        <p:nvSpPr>
          <p:cNvPr id="32" name="">
            <a:extLst xmlns:a="http://schemas.openxmlformats.org/drawingml/2006/main">
              <a:ext uri="{FF2B5EF4-FFF2-40B4-BE49-F238E27FC236}">
                <a16:creationId xmlns:a16="http://schemas.microsoft.com/office/drawing/2014/main" id="{6491D667-25E8-4B2F-9C74-9B5135FF0427}"/>
              </a:ext>
            </a:extLst>
          </p:cNvPr>
          <p:cNvSpPr>
            <a:spLocks xmlns:a="http://schemas.openxmlformats.org/drawingml/2006/main" noGrp="1"/>
          </p:cNvSpPr>
          <p:nvPr/>
        </p:nvSpPr>
        <p:spPr>
          <a:xfrm xmlns:a="http://schemas.openxmlformats.org/drawingml/2006/main">
            <a:off x="4686300" y="25146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21982FC6-4474-47FC-B807-58EBA68E0E35}"/>
              </a:ext>
            </a:extLst>
          </p:cNvPr>
          <p:cNvSpPr>
            <a:spLocks xmlns:a="http://schemas.openxmlformats.org/drawingml/2006/main" noGrp="1"/>
          </p:cNvSpPr>
          <p:nvPr/>
        </p:nvSpPr>
        <p:spPr>
          <a:xfrm xmlns:a="http://schemas.openxmlformats.org/drawingml/2006/main">
            <a:off x="4781550" y="26098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.1190</a:t>
            </a:r>
          </a:p>
        </p:txBody>
      </p:sp>
      <p:sp>
        <p:nvSpPr>
          <p:cNvPr id="34" name="">
            <a:extLst xmlns:a="http://schemas.openxmlformats.org/drawingml/2006/main">
              <a:ext uri="{FF2B5EF4-FFF2-40B4-BE49-F238E27FC236}">
                <a16:creationId xmlns:a16="http://schemas.microsoft.com/office/drawing/2014/main" id="{7D58A253-C300-42D4-861E-893102261FE8}"/>
              </a:ext>
            </a:extLst>
          </p:cNvPr>
          <p:cNvSpPr>
            <a:spLocks xmlns:a="http://schemas.openxmlformats.org/drawingml/2006/main" noGrp="1"/>
          </p:cNvSpPr>
          <p:nvPr/>
        </p:nvSpPr>
        <p:spPr>
          <a:xfrm xmlns:a="http://schemas.openxmlformats.org/drawingml/2006/main">
            <a:off x="6019800" y="25146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5" name="">
            <a:extLst xmlns:a="http://schemas.openxmlformats.org/drawingml/2006/main">
              <a:ext uri="{FF2B5EF4-FFF2-40B4-BE49-F238E27FC236}">
                <a16:creationId xmlns:a16="http://schemas.microsoft.com/office/drawing/2014/main" id="{BA38D9D8-F4AE-4915-96B0-189981EF404D}"/>
              </a:ext>
            </a:extLst>
          </p:cNvPr>
          <p:cNvSpPr>
            <a:spLocks xmlns:a="http://schemas.openxmlformats.org/drawingml/2006/main" noGrp="1"/>
          </p:cNvSpPr>
          <p:nvPr/>
        </p:nvSpPr>
        <p:spPr>
          <a:xfrm xmlns:a="http://schemas.openxmlformats.org/drawingml/2006/main">
            <a:off x="6115050" y="26098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.1983</a:t>
            </a:r>
          </a:p>
        </p:txBody>
      </p:sp>
      <p:sp>
        <p:nvSpPr>
          <p:cNvPr id="36" name="">
            <a:extLst xmlns:a="http://schemas.openxmlformats.org/drawingml/2006/main">
              <a:ext uri="{FF2B5EF4-FFF2-40B4-BE49-F238E27FC236}">
                <a16:creationId xmlns:a16="http://schemas.microsoft.com/office/drawing/2014/main" id="{3CA3EC92-8704-48CE-88E6-270FD822AFF0}"/>
              </a:ext>
            </a:extLst>
          </p:cNvPr>
          <p:cNvSpPr>
            <a:spLocks xmlns:a="http://schemas.openxmlformats.org/drawingml/2006/main" noGrp="1"/>
          </p:cNvSpPr>
          <p:nvPr/>
        </p:nvSpPr>
        <p:spPr>
          <a:xfrm xmlns:a="http://schemas.openxmlformats.org/drawingml/2006/main">
            <a:off x="7353300" y="2514600"/>
            <a:ext cx="1905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7" name="">
            <a:extLst xmlns:a="http://schemas.openxmlformats.org/drawingml/2006/main">
              <a:ext uri="{FF2B5EF4-FFF2-40B4-BE49-F238E27FC236}">
                <a16:creationId xmlns:a16="http://schemas.microsoft.com/office/drawing/2014/main" id="{0E272DD6-6DFD-4B44-96F1-4C18E7197F67}"/>
              </a:ext>
            </a:extLst>
          </p:cNvPr>
          <p:cNvSpPr>
            <a:spLocks xmlns:a="http://schemas.openxmlformats.org/drawingml/2006/main" noGrp="1"/>
          </p:cNvSpPr>
          <p:nvPr/>
        </p:nvSpPr>
        <p:spPr>
          <a:xfrm xmlns:a="http://schemas.openxmlformats.org/drawingml/2006/main">
            <a:off x="7448550" y="26098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.1362</a:t>
            </a:r>
          </a:p>
        </p:txBody>
      </p:sp>
      <p:sp>
        <p:nvSpPr>
          <p:cNvPr id="38" name="">
            <a:extLst xmlns:a="http://schemas.openxmlformats.org/drawingml/2006/main">
              <a:ext uri="{FF2B5EF4-FFF2-40B4-BE49-F238E27FC236}">
                <a16:creationId xmlns:a16="http://schemas.microsoft.com/office/drawing/2014/main" id="{DE0BA8EF-8948-4983-BA7B-D55088C3E4E8}"/>
              </a:ext>
            </a:extLst>
          </p:cNvPr>
          <p:cNvSpPr>
            <a:spLocks xmlns:a="http://schemas.openxmlformats.org/drawingml/2006/main" noGrp="1"/>
          </p:cNvSpPr>
          <p:nvPr/>
        </p:nvSpPr>
        <p:spPr>
          <a:xfrm xmlns:a="http://schemas.openxmlformats.org/drawingml/2006/main">
            <a:off x="9258300" y="2514600"/>
            <a:ext cx="2133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9" name="">
            <a:extLst xmlns:a="http://schemas.openxmlformats.org/drawingml/2006/main">
              <a:ext uri="{FF2B5EF4-FFF2-40B4-BE49-F238E27FC236}">
                <a16:creationId xmlns:a16="http://schemas.microsoft.com/office/drawing/2014/main" id="{54B32FB9-7594-4C6A-842B-718546144DC9}"/>
              </a:ext>
            </a:extLst>
          </p:cNvPr>
          <p:cNvSpPr>
            <a:spLocks xmlns:a="http://schemas.openxmlformats.org/drawingml/2006/main" noGrp="1"/>
          </p:cNvSpPr>
          <p:nvPr/>
        </p:nvSpPr>
        <p:spPr>
          <a:xfrm xmlns:a="http://schemas.openxmlformats.org/drawingml/2006/main">
            <a:off x="9353550" y="26098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.0797</a:t>
            </a:r>
          </a:p>
        </p:txBody>
      </p:sp>
      <p:sp>
        <p:nvSpPr>
          <p:cNvPr id="40" name="">
            <a:extLst xmlns:a="http://schemas.openxmlformats.org/drawingml/2006/main">
              <a:ext uri="{FF2B5EF4-FFF2-40B4-BE49-F238E27FC236}">
                <a16:creationId xmlns:a16="http://schemas.microsoft.com/office/drawing/2014/main" id="{A543AD0C-08B9-41C9-87FA-BA53CEE662DD}"/>
              </a:ext>
            </a:extLst>
          </p:cNvPr>
          <p:cNvSpPr>
            <a:spLocks xmlns:a="http://schemas.openxmlformats.org/drawingml/2006/main" noGrp="1"/>
          </p:cNvSpPr>
          <p:nvPr/>
        </p:nvSpPr>
        <p:spPr>
          <a:xfrm xmlns:a="http://schemas.openxmlformats.org/drawingml/2006/main">
            <a:off x="400050" y="3009900"/>
            <a:ext cx="295275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41" name="">
            <a:extLst xmlns:a="http://schemas.openxmlformats.org/drawingml/2006/main">
              <a:ext uri="{FF2B5EF4-FFF2-40B4-BE49-F238E27FC236}">
                <a16:creationId xmlns:a16="http://schemas.microsoft.com/office/drawing/2014/main" id="{9D72FD19-A793-4615-B0DD-141D53C6D132}"/>
              </a:ext>
            </a:extLst>
          </p:cNvPr>
          <p:cNvSpPr>
            <a:spLocks xmlns:a="http://schemas.openxmlformats.org/drawingml/2006/main" noGrp="1"/>
          </p:cNvSpPr>
          <p:nvPr/>
        </p:nvSpPr>
        <p:spPr>
          <a:xfrm xmlns:a="http://schemas.openxmlformats.org/drawingml/2006/main">
            <a:off x="495300" y="31051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000000"/>
                </a:solidFill>
                <a:latin typeface="Arial"/>
                <a:ea typeface="Arial"/>
                <a:cs typeface="Arial"/>
              </a:defRPr>
            </a:pPr>
            <a:r>
              <a:rPr sz="1200" b="0">
                <a:solidFill>
                  <a:srgbClr val="000000"/>
                </a:solidFill>
                <a:latin typeface="Arial"/>
                <a:ea typeface="Arial"/>
                <a:cs typeface="Arial"/>
              </a:rPr>
              <a:t>DAWN → ACDC</a:t>
            </a:r>
          </a:p>
        </p:txBody>
      </p:sp>
      <p:sp>
        <p:nvSpPr>
          <p:cNvPr id="42" name="">
            <a:extLst xmlns:a="http://schemas.openxmlformats.org/drawingml/2006/main">
              <a:ext uri="{FF2B5EF4-FFF2-40B4-BE49-F238E27FC236}">
                <a16:creationId xmlns:a16="http://schemas.microsoft.com/office/drawing/2014/main" id="{B1405821-61F8-461A-8C45-FE27860DE880}"/>
              </a:ext>
            </a:extLst>
          </p:cNvPr>
          <p:cNvSpPr>
            <a:spLocks xmlns:a="http://schemas.openxmlformats.org/drawingml/2006/main" noGrp="1"/>
          </p:cNvSpPr>
          <p:nvPr/>
        </p:nvSpPr>
        <p:spPr>
          <a:xfrm xmlns:a="http://schemas.openxmlformats.org/drawingml/2006/main">
            <a:off x="3352800" y="30099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43" name="">
            <a:extLst xmlns:a="http://schemas.openxmlformats.org/drawingml/2006/main">
              <a:ext uri="{FF2B5EF4-FFF2-40B4-BE49-F238E27FC236}">
                <a16:creationId xmlns:a16="http://schemas.microsoft.com/office/drawing/2014/main" id="{63A76B02-3553-488F-854D-1838645572B0}"/>
              </a:ext>
            </a:extLst>
          </p:cNvPr>
          <p:cNvSpPr>
            <a:spLocks xmlns:a="http://schemas.openxmlformats.org/drawingml/2006/main" noGrp="1"/>
          </p:cNvSpPr>
          <p:nvPr/>
        </p:nvSpPr>
        <p:spPr>
          <a:xfrm xmlns:a="http://schemas.openxmlformats.org/drawingml/2006/main">
            <a:off x="3448050" y="31051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.2055</a:t>
            </a:r>
          </a:p>
        </p:txBody>
      </p:sp>
      <p:sp>
        <p:nvSpPr>
          <p:cNvPr id="44" name="">
            <a:extLst xmlns:a="http://schemas.openxmlformats.org/drawingml/2006/main">
              <a:ext uri="{FF2B5EF4-FFF2-40B4-BE49-F238E27FC236}">
                <a16:creationId xmlns:a16="http://schemas.microsoft.com/office/drawing/2014/main" id="{B82D9D72-FC74-45C9-891B-4AB696DD7BDE}"/>
              </a:ext>
            </a:extLst>
          </p:cNvPr>
          <p:cNvSpPr>
            <a:spLocks xmlns:a="http://schemas.openxmlformats.org/drawingml/2006/main" noGrp="1"/>
          </p:cNvSpPr>
          <p:nvPr/>
        </p:nvSpPr>
        <p:spPr>
          <a:xfrm xmlns:a="http://schemas.openxmlformats.org/drawingml/2006/main">
            <a:off x="4686300" y="30099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45" name="">
            <a:extLst xmlns:a="http://schemas.openxmlformats.org/drawingml/2006/main">
              <a:ext uri="{FF2B5EF4-FFF2-40B4-BE49-F238E27FC236}">
                <a16:creationId xmlns:a16="http://schemas.microsoft.com/office/drawing/2014/main" id="{BACE857C-007D-4A9A-A468-CA792B8D3CAA}"/>
              </a:ext>
            </a:extLst>
          </p:cNvPr>
          <p:cNvSpPr>
            <a:spLocks xmlns:a="http://schemas.openxmlformats.org/drawingml/2006/main" noGrp="1"/>
          </p:cNvSpPr>
          <p:nvPr/>
        </p:nvSpPr>
        <p:spPr>
          <a:xfrm xmlns:a="http://schemas.openxmlformats.org/drawingml/2006/main">
            <a:off x="4781550" y="31051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.1330</a:t>
            </a:r>
          </a:p>
        </p:txBody>
      </p:sp>
      <p:sp>
        <p:nvSpPr>
          <p:cNvPr id="46" name="">
            <a:extLst xmlns:a="http://schemas.openxmlformats.org/drawingml/2006/main">
              <a:ext uri="{FF2B5EF4-FFF2-40B4-BE49-F238E27FC236}">
                <a16:creationId xmlns:a16="http://schemas.microsoft.com/office/drawing/2014/main" id="{23534D73-DBE8-4619-BE15-539254BFEA20}"/>
              </a:ext>
            </a:extLst>
          </p:cNvPr>
          <p:cNvSpPr>
            <a:spLocks xmlns:a="http://schemas.openxmlformats.org/drawingml/2006/main" noGrp="1"/>
          </p:cNvSpPr>
          <p:nvPr/>
        </p:nvSpPr>
        <p:spPr>
          <a:xfrm xmlns:a="http://schemas.openxmlformats.org/drawingml/2006/main">
            <a:off x="6019800" y="30099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47" name="">
            <a:extLst xmlns:a="http://schemas.openxmlformats.org/drawingml/2006/main">
              <a:ext uri="{FF2B5EF4-FFF2-40B4-BE49-F238E27FC236}">
                <a16:creationId xmlns:a16="http://schemas.microsoft.com/office/drawing/2014/main" id="{39F657A0-602E-4313-B86F-C34CE61B2878}"/>
              </a:ext>
            </a:extLst>
          </p:cNvPr>
          <p:cNvSpPr>
            <a:spLocks xmlns:a="http://schemas.openxmlformats.org/drawingml/2006/main" noGrp="1"/>
          </p:cNvSpPr>
          <p:nvPr/>
        </p:nvSpPr>
        <p:spPr>
          <a:xfrm xmlns:a="http://schemas.openxmlformats.org/drawingml/2006/main">
            <a:off x="6115050" y="31051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.1615</a:t>
            </a:r>
          </a:p>
        </p:txBody>
      </p:sp>
      <p:sp>
        <p:nvSpPr>
          <p:cNvPr id="48" name="">
            <a:extLst xmlns:a="http://schemas.openxmlformats.org/drawingml/2006/main">
              <a:ext uri="{FF2B5EF4-FFF2-40B4-BE49-F238E27FC236}">
                <a16:creationId xmlns:a16="http://schemas.microsoft.com/office/drawing/2014/main" id="{8074EEB2-653A-42CC-9865-A3C0220E50AF}"/>
              </a:ext>
            </a:extLst>
          </p:cNvPr>
          <p:cNvSpPr>
            <a:spLocks xmlns:a="http://schemas.openxmlformats.org/drawingml/2006/main" noGrp="1"/>
          </p:cNvSpPr>
          <p:nvPr/>
        </p:nvSpPr>
        <p:spPr>
          <a:xfrm xmlns:a="http://schemas.openxmlformats.org/drawingml/2006/main">
            <a:off x="7353300" y="3009900"/>
            <a:ext cx="19050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49" name="">
            <a:extLst xmlns:a="http://schemas.openxmlformats.org/drawingml/2006/main">
              <a:ext uri="{FF2B5EF4-FFF2-40B4-BE49-F238E27FC236}">
                <a16:creationId xmlns:a16="http://schemas.microsoft.com/office/drawing/2014/main" id="{754EB985-DC75-4366-88C7-291F16EC2626}"/>
              </a:ext>
            </a:extLst>
          </p:cNvPr>
          <p:cNvSpPr>
            <a:spLocks xmlns:a="http://schemas.openxmlformats.org/drawingml/2006/main" noGrp="1"/>
          </p:cNvSpPr>
          <p:nvPr/>
        </p:nvSpPr>
        <p:spPr>
          <a:xfrm xmlns:a="http://schemas.openxmlformats.org/drawingml/2006/main">
            <a:off x="7448550" y="3105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.1122</a:t>
            </a:r>
          </a:p>
        </p:txBody>
      </p:sp>
      <p:sp>
        <p:nvSpPr>
          <p:cNvPr id="50" name="">
            <a:extLst xmlns:a="http://schemas.openxmlformats.org/drawingml/2006/main">
              <a:ext uri="{FF2B5EF4-FFF2-40B4-BE49-F238E27FC236}">
                <a16:creationId xmlns:a16="http://schemas.microsoft.com/office/drawing/2014/main" id="{B748DC80-CA75-45E4-9450-38093EC7F963}"/>
              </a:ext>
            </a:extLst>
          </p:cNvPr>
          <p:cNvSpPr>
            <a:spLocks xmlns:a="http://schemas.openxmlformats.org/drawingml/2006/main" noGrp="1"/>
          </p:cNvSpPr>
          <p:nvPr/>
        </p:nvSpPr>
        <p:spPr>
          <a:xfrm xmlns:a="http://schemas.openxmlformats.org/drawingml/2006/main">
            <a:off x="9258300" y="3009900"/>
            <a:ext cx="21336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51" name="">
            <a:extLst xmlns:a="http://schemas.openxmlformats.org/drawingml/2006/main">
              <a:ext uri="{FF2B5EF4-FFF2-40B4-BE49-F238E27FC236}">
                <a16:creationId xmlns:a16="http://schemas.microsoft.com/office/drawing/2014/main" id="{418DFCA3-7C0C-400A-9A90-DB7400831CAD}"/>
              </a:ext>
            </a:extLst>
          </p:cNvPr>
          <p:cNvSpPr>
            <a:spLocks xmlns:a="http://schemas.openxmlformats.org/drawingml/2006/main" noGrp="1"/>
          </p:cNvSpPr>
          <p:nvPr/>
        </p:nvSpPr>
        <p:spPr>
          <a:xfrm xmlns:a="http://schemas.openxmlformats.org/drawingml/2006/main">
            <a:off x="9353550" y="31051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.0666</a:t>
            </a:r>
          </a:p>
        </p:txBody>
      </p:sp>
      <p:sp>
        <p:nvSpPr>
          <p:cNvPr id="52" name="">
            <a:extLst xmlns:a="http://schemas.openxmlformats.org/drawingml/2006/main">
              <a:ext uri="{FF2B5EF4-FFF2-40B4-BE49-F238E27FC236}">
                <a16:creationId xmlns:a16="http://schemas.microsoft.com/office/drawing/2014/main" id="{85EAE206-0B2E-4958-BF11-EAF758C9AEAB}"/>
              </a:ext>
            </a:extLst>
          </p:cNvPr>
          <p:cNvSpPr>
            <a:spLocks xmlns:a="http://schemas.openxmlformats.org/drawingml/2006/main" noGrp="1"/>
          </p:cNvSpPr>
          <p:nvPr/>
        </p:nvSpPr>
        <p:spPr>
          <a:xfrm xmlns:a="http://schemas.openxmlformats.org/drawingml/2006/main">
            <a:off x="400050" y="3505200"/>
            <a:ext cx="2952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3" name="">
            <a:extLst xmlns:a="http://schemas.openxmlformats.org/drawingml/2006/main">
              <a:ext uri="{FF2B5EF4-FFF2-40B4-BE49-F238E27FC236}">
                <a16:creationId xmlns:a16="http://schemas.microsoft.com/office/drawing/2014/main" id="{3680EE99-2DDC-4D1F-9971-17DA7FBCBF38}"/>
              </a:ext>
            </a:extLst>
          </p:cNvPr>
          <p:cNvSpPr>
            <a:spLocks xmlns:a="http://schemas.openxmlformats.org/drawingml/2006/main" noGrp="1"/>
          </p:cNvSpPr>
          <p:nvPr/>
        </p:nvSpPr>
        <p:spPr>
          <a:xfrm xmlns:a="http://schemas.openxmlformats.org/drawingml/2006/main">
            <a:off x="495300" y="36004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000000"/>
                </a:solidFill>
                <a:latin typeface="Arial"/>
                <a:ea typeface="Arial"/>
                <a:cs typeface="Arial"/>
              </a:defRPr>
            </a:pPr>
            <a:r>
              <a:rPr sz="1200" b="0">
                <a:solidFill>
                  <a:srgbClr val="000000"/>
                </a:solidFill>
                <a:latin typeface="Arial"/>
                <a:ea typeface="Arial"/>
                <a:cs typeface="Arial"/>
              </a:rPr>
              <a:t>DAWN → DAWN</a:t>
            </a:r>
          </a:p>
        </p:txBody>
      </p:sp>
      <p:sp>
        <p:nvSpPr>
          <p:cNvPr id="54" name="">
            <a:extLst xmlns:a="http://schemas.openxmlformats.org/drawingml/2006/main">
              <a:ext uri="{FF2B5EF4-FFF2-40B4-BE49-F238E27FC236}">
                <a16:creationId xmlns:a16="http://schemas.microsoft.com/office/drawing/2014/main" id="{018660FC-124D-472E-AC2B-508B82901D3C}"/>
              </a:ext>
            </a:extLst>
          </p:cNvPr>
          <p:cNvSpPr>
            <a:spLocks xmlns:a="http://schemas.openxmlformats.org/drawingml/2006/main" noGrp="1"/>
          </p:cNvSpPr>
          <p:nvPr/>
        </p:nvSpPr>
        <p:spPr>
          <a:xfrm xmlns:a="http://schemas.openxmlformats.org/drawingml/2006/main">
            <a:off x="3352800" y="35052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5" name="">
            <a:extLst xmlns:a="http://schemas.openxmlformats.org/drawingml/2006/main">
              <a:ext uri="{FF2B5EF4-FFF2-40B4-BE49-F238E27FC236}">
                <a16:creationId xmlns:a16="http://schemas.microsoft.com/office/drawing/2014/main" id="{06728336-8816-4D93-9B7C-D14AFC1E0425}"/>
              </a:ext>
            </a:extLst>
          </p:cNvPr>
          <p:cNvSpPr>
            <a:spLocks xmlns:a="http://schemas.openxmlformats.org/drawingml/2006/main" noGrp="1"/>
          </p:cNvSpPr>
          <p:nvPr/>
        </p:nvSpPr>
        <p:spPr>
          <a:xfrm xmlns:a="http://schemas.openxmlformats.org/drawingml/2006/main">
            <a:off x="3448050" y="36004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.8465</a:t>
            </a:r>
          </a:p>
        </p:txBody>
      </p:sp>
      <p:sp>
        <p:nvSpPr>
          <p:cNvPr id="56" name="">
            <a:extLst xmlns:a="http://schemas.openxmlformats.org/drawingml/2006/main">
              <a:ext uri="{FF2B5EF4-FFF2-40B4-BE49-F238E27FC236}">
                <a16:creationId xmlns:a16="http://schemas.microsoft.com/office/drawing/2014/main" id="{3D210AC9-A4C8-4FB6-8D5C-9347442532C0}"/>
              </a:ext>
            </a:extLst>
          </p:cNvPr>
          <p:cNvSpPr>
            <a:spLocks xmlns:a="http://schemas.openxmlformats.org/drawingml/2006/main" noGrp="1"/>
          </p:cNvSpPr>
          <p:nvPr/>
        </p:nvSpPr>
        <p:spPr>
          <a:xfrm xmlns:a="http://schemas.openxmlformats.org/drawingml/2006/main">
            <a:off x="4686300" y="35052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7" name="">
            <a:extLst xmlns:a="http://schemas.openxmlformats.org/drawingml/2006/main">
              <a:ext uri="{FF2B5EF4-FFF2-40B4-BE49-F238E27FC236}">
                <a16:creationId xmlns:a16="http://schemas.microsoft.com/office/drawing/2014/main" id="{F4872F6A-7DB0-49C2-AE4B-EDC63D7B8673}"/>
              </a:ext>
            </a:extLst>
          </p:cNvPr>
          <p:cNvSpPr>
            <a:spLocks xmlns:a="http://schemas.openxmlformats.org/drawingml/2006/main" noGrp="1"/>
          </p:cNvSpPr>
          <p:nvPr/>
        </p:nvSpPr>
        <p:spPr>
          <a:xfrm xmlns:a="http://schemas.openxmlformats.org/drawingml/2006/main">
            <a:off x="4781550" y="36004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.5794</a:t>
            </a:r>
          </a:p>
        </p:txBody>
      </p:sp>
      <p:sp>
        <p:nvSpPr>
          <p:cNvPr id="58" name="">
            <a:extLst xmlns:a="http://schemas.openxmlformats.org/drawingml/2006/main">
              <a:ext uri="{FF2B5EF4-FFF2-40B4-BE49-F238E27FC236}">
                <a16:creationId xmlns:a16="http://schemas.microsoft.com/office/drawing/2014/main" id="{8D08BA1E-C2FD-4B52-88C5-A876F1BDC8A3}"/>
              </a:ext>
            </a:extLst>
          </p:cNvPr>
          <p:cNvSpPr>
            <a:spLocks xmlns:a="http://schemas.openxmlformats.org/drawingml/2006/main" noGrp="1"/>
          </p:cNvSpPr>
          <p:nvPr/>
        </p:nvSpPr>
        <p:spPr>
          <a:xfrm xmlns:a="http://schemas.openxmlformats.org/drawingml/2006/main">
            <a:off x="6019800" y="35052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9" name="">
            <a:extLst xmlns:a="http://schemas.openxmlformats.org/drawingml/2006/main">
              <a:ext uri="{FF2B5EF4-FFF2-40B4-BE49-F238E27FC236}">
                <a16:creationId xmlns:a16="http://schemas.microsoft.com/office/drawing/2014/main" id="{8550EE7E-27CD-4F13-9504-C4AF51D13579}"/>
              </a:ext>
            </a:extLst>
          </p:cNvPr>
          <p:cNvSpPr>
            <a:spLocks xmlns:a="http://schemas.openxmlformats.org/drawingml/2006/main" noGrp="1"/>
          </p:cNvSpPr>
          <p:nvPr/>
        </p:nvSpPr>
        <p:spPr>
          <a:xfrm xmlns:a="http://schemas.openxmlformats.org/drawingml/2006/main">
            <a:off x="6115050" y="36004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.6879</a:t>
            </a:r>
          </a:p>
        </p:txBody>
      </p:sp>
      <p:sp>
        <p:nvSpPr>
          <p:cNvPr id="60" name="">
            <a:extLst xmlns:a="http://schemas.openxmlformats.org/drawingml/2006/main">
              <a:ext uri="{FF2B5EF4-FFF2-40B4-BE49-F238E27FC236}">
                <a16:creationId xmlns:a16="http://schemas.microsoft.com/office/drawing/2014/main" id="{CAB3F9A7-2CFF-4FEB-9BF8-60A959EAF1DC}"/>
              </a:ext>
            </a:extLst>
          </p:cNvPr>
          <p:cNvSpPr>
            <a:spLocks xmlns:a="http://schemas.openxmlformats.org/drawingml/2006/main" noGrp="1"/>
          </p:cNvSpPr>
          <p:nvPr/>
        </p:nvSpPr>
        <p:spPr>
          <a:xfrm xmlns:a="http://schemas.openxmlformats.org/drawingml/2006/main">
            <a:off x="7353300" y="3505200"/>
            <a:ext cx="1905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1" name="">
            <a:extLst xmlns:a="http://schemas.openxmlformats.org/drawingml/2006/main">
              <a:ext uri="{FF2B5EF4-FFF2-40B4-BE49-F238E27FC236}">
                <a16:creationId xmlns:a16="http://schemas.microsoft.com/office/drawing/2014/main" id="{7B80EF1B-6C99-4E71-A5CC-BE26A992E31E}"/>
              </a:ext>
            </a:extLst>
          </p:cNvPr>
          <p:cNvSpPr>
            <a:spLocks xmlns:a="http://schemas.openxmlformats.org/drawingml/2006/main" noGrp="1"/>
          </p:cNvSpPr>
          <p:nvPr/>
        </p:nvSpPr>
        <p:spPr>
          <a:xfrm xmlns:a="http://schemas.openxmlformats.org/drawingml/2006/main">
            <a:off x="7448550" y="36004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.6277</a:t>
            </a:r>
          </a:p>
        </p:txBody>
      </p:sp>
      <p:sp>
        <p:nvSpPr>
          <p:cNvPr id="62" name="">
            <a:extLst xmlns:a="http://schemas.openxmlformats.org/drawingml/2006/main">
              <a:ext uri="{FF2B5EF4-FFF2-40B4-BE49-F238E27FC236}">
                <a16:creationId xmlns:a16="http://schemas.microsoft.com/office/drawing/2014/main" id="{6E4CDAC8-DBD8-4B4B-9D3E-3B966A1C9FE5}"/>
              </a:ext>
            </a:extLst>
          </p:cNvPr>
          <p:cNvSpPr>
            <a:spLocks xmlns:a="http://schemas.openxmlformats.org/drawingml/2006/main" noGrp="1"/>
          </p:cNvSpPr>
          <p:nvPr/>
        </p:nvSpPr>
        <p:spPr>
          <a:xfrm xmlns:a="http://schemas.openxmlformats.org/drawingml/2006/main">
            <a:off x="9258300" y="3505200"/>
            <a:ext cx="2133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3" name="">
            <a:extLst xmlns:a="http://schemas.openxmlformats.org/drawingml/2006/main">
              <a:ext uri="{FF2B5EF4-FFF2-40B4-BE49-F238E27FC236}">
                <a16:creationId xmlns:a16="http://schemas.microsoft.com/office/drawing/2014/main" id="{96B0FFB3-7C8F-42F6-875A-E3B84C85B5F4}"/>
              </a:ext>
            </a:extLst>
          </p:cNvPr>
          <p:cNvSpPr>
            <a:spLocks xmlns:a="http://schemas.openxmlformats.org/drawingml/2006/main" noGrp="1"/>
          </p:cNvSpPr>
          <p:nvPr/>
        </p:nvSpPr>
        <p:spPr>
          <a:xfrm xmlns:a="http://schemas.openxmlformats.org/drawingml/2006/main">
            <a:off x="9353550" y="36004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.4369</a:t>
            </a:r>
          </a:p>
        </p:txBody>
      </p:sp>
      <p:sp>
        <p:nvSpPr>
          <p:cNvPr id="64" name="">
            <a:extLst xmlns:a="http://schemas.openxmlformats.org/drawingml/2006/main">
              <a:ext uri="{FF2B5EF4-FFF2-40B4-BE49-F238E27FC236}">
                <a16:creationId xmlns:a16="http://schemas.microsoft.com/office/drawing/2014/main" id="{E8D28D3E-1F0E-4604-B0C9-796A1263F9B2}"/>
              </a:ext>
            </a:extLst>
          </p:cNvPr>
          <p:cNvSpPr>
            <a:spLocks xmlns:a="http://schemas.openxmlformats.org/drawingml/2006/main" noGrp="1"/>
          </p:cNvSpPr>
          <p:nvPr/>
        </p:nvSpPr>
        <p:spPr>
          <a:xfrm xmlns:a="http://schemas.openxmlformats.org/drawingml/2006/main">
            <a:off x="400050" y="4000500"/>
            <a:ext cx="295275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65" name="">
            <a:extLst xmlns:a="http://schemas.openxmlformats.org/drawingml/2006/main">
              <a:ext uri="{FF2B5EF4-FFF2-40B4-BE49-F238E27FC236}">
                <a16:creationId xmlns:a16="http://schemas.microsoft.com/office/drawing/2014/main" id="{C9D6CE4D-69C6-4456-9BA8-DC2F724F2331}"/>
              </a:ext>
            </a:extLst>
          </p:cNvPr>
          <p:cNvSpPr>
            <a:spLocks xmlns:a="http://schemas.openxmlformats.org/drawingml/2006/main" noGrp="1"/>
          </p:cNvSpPr>
          <p:nvPr/>
        </p:nvSpPr>
        <p:spPr>
          <a:xfrm xmlns:a="http://schemas.openxmlformats.org/drawingml/2006/main">
            <a:off x="495300" y="40957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000000"/>
                </a:solidFill>
                <a:latin typeface="Arial"/>
                <a:ea typeface="Arial"/>
                <a:cs typeface="Arial"/>
              </a:defRPr>
            </a:pPr>
            <a:r>
              <a:rPr sz="1200" b="0">
                <a:solidFill>
                  <a:srgbClr val="000000"/>
                </a:solidFill>
                <a:latin typeface="Arial"/>
                <a:ea typeface="Arial"/>
                <a:cs typeface="Arial"/>
              </a:rPr>
              <a:t>Combined → ACDC</a:t>
            </a:r>
          </a:p>
        </p:txBody>
      </p:sp>
      <p:sp>
        <p:nvSpPr>
          <p:cNvPr id="66" name="">
            <a:extLst xmlns:a="http://schemas.openxmlformats.org/drawingml/2006/main">
              <a:ext uri="{FF2B5EF4-FFF2-40B4-BE49-F238E27FC236}">
                <a16:creationId xmlns:a16="http://schemas.microsoft.com/office/drawing/2014/main" id="{63C649DE-0AD6-431B-B7FB-7765679B27CA}"/>
              </a:ext>
            </a:extLst>
          </p:cNvPr>
          <p:cNvSpPr>
            <a:spLocks xmlns:a="http://schemas.openxmlformats.org/drawingml/2006/main" noGrp="1"/>
          </p:cNvSpPr>
          <p:nvPr/>
        </p:nvSpPr>
        <p:spPr>
          <a:xfrm xmlns:a="http://schemas.openxmlformats.org/drawingml/2006/main">
            <a:off x="3352800" y="40005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67" name="">
            <a:extLst xmlns:a="http://schemas.openxmlformats.org/drawingml/2006/main">
              <a:ext uri="{FF2B5EF4-FFF2-40B4-BE49-F238E27FC236}">
                <a16:creationId xmlns:a16="http://schemas.microsoft.com/office/drawing/2014/main" id="{D0423C68-8965-4FAF-B978-58434A07A421}"/>
              </a:ext>
            </a:extLst>
          </p:cNvPr>
          <p:cNvSpPr>
            <a:spLocks xmlns:a="http://schemas.openxmlformats.org/drawingml/2006/main" noGrp="1"/>
          </p:cNvSpPr>
          <p:nvPr/>
        </p:nvSpPr>
        <p:spPr>
          <a:xfrm xmlns:a="http://schemas.openxmlformats.org/drawingml/2006/main">
            <a:off x="3448050" y="40957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.5225</a:t>
            </a:r>
          </a:p>
        </p:txBody>
      </p:sp>
      <p:sp>
        <p:nvSpPr>
          <p:cNvPr id="68" name="">
            <a:extLst xmlns:a="http://schemas.openxmlformats.org/drawingml/2006/main">
              <a:ext uri="{FF2B5EF4-FFF2-40B4-BE49-F238E27FC236}">
                <a16:creationId xmlns:a16="http://schemas.microsoft.com/office/drawing/2014/main" id="{BFE1C910-DB34-4EF7-9F48-643F5185B58F}"/>
              </a:ext>
            </a:extLst>
          </p:cNvPr>
          <p:cNvSpPr>
            <a:spLocks xmlns:a="http://schemas.openxmlformats.org/drawingml/2006/main" noGrp="1"/>
          </p:cNvSpPr>
          <p:nvPr/>
        </p:nvSpPr>
        <p:spPr>
          <a:xfrm xmlns:a="http://schemas.openxmlformats.org/drawingml/2006/main">
            <a:off x="4686300" y="40005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69" name="">
            <a:extLst xmlns:a="http://schemas.openxmlformats.org/drawingml/2006/main">
              <a:ext uri="{FF2B5EF4-FFF2-40B4-BE49-F238E27FC236}">
                <a16:creationId xmlns:a16="http://schemas.microsoft.com/office/drawing/2014/main" id="{17A128C4-76F4-4DC7-B3CF-7C76DC896298}"/>
              </a:ext>
            </a:extLst>
          </p:cNvPr>
          <p:cNvSpPr>
            <a:spLocks xmlns:a="http://schemas.openxmlformats.org/drawingml/2006/main" noGrp="1"/>
          </p:cNvSpPr>
          <p:nvPr/>
        </p:nvSpPr>
        <p:spPr>
          <a:xfrm xmlns:a="http://schemas.openxmlformats.org/drawingml/2006/main">
            <a:off x="4781550" y="40957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.4129</a:t>
            </a:r>
          </a:p>
        </p:txBody>
      </p:sp>
      <p:sp>
        <p:nvSpPr>
          <p:cNvPr id="70" name="">
            <a:extLst xmlns:a="http://schemas.openxmlformats.org/drawingml/2006/main">
              <a:ext uri="{FF2B5EF4-FFF2-40B4-BE49-F238E27FC236}">
                <a16:creationId xmlns:a16="http://schemas.microsoft.com/office/drawing/2014/main" id="{5E172082-95C9-4352-A3F4-62CE9CA1B7CF}"/>
              </a:ext>
            </a:extLst>
          </p:cNvPr>
          <p:cNvSpPr>
            <a:spLocks xmlns:a="http://schemas.openxmlformats.org/drawingml/2006/main" noGrp="1"/>
          </p:cNvSpPr>
          <p:nvPr/>
        </p:nvSpPr>
        <p:spPr>
          <a:xfrm xmlns:a="http://schemas.openxmlformats.org/drawingml/2006/main">
            <a:off x="6019800" y="40005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71" name="">
            <a:extLst xmlns:a="http://schemas.openxmlformats.org/drawingml/2006/main">
              <a:ext uri="{FF2B5EF4-FFF2-40B4-BE49-F238E27FC236}">
                <a16:creationId xmlns:a16="http://schemas.microsoft.com/office/drawing/2014/main" id="{C5023564-EA40-41B0-BD11-E99FFBAFC0EE}"/>
              </a:ext>
            </a:extLst>
          </p:cNvPr>
          <p:cNvSpPr>
            <a:spLocks xmlns:a="http://schemas.openxmlformats.org/drawingml/2006/main" noGrp="1"/>
          </p:cNvSpPr>
          <p:nvPr/>
        </p:nvSpPr>
        <p:spPr>
          <a:xfrm xmlns:a="http://schemas.openxmlformats.org/drawingml/2006/main">
            <a:off x="6115050" y="40957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.4613</a:t>
            </a:r>
          </a:p>
        </p:txBody>
      </p:sp>
      <p:sp>
        <p:nvSpPr>
          <p:cNvPr id="72" name="">
            <a:extLst xmlns:a="http://schemas.openxmlformats.org/drawingml/2006/main">
              <a:ext uri="{FF2B5EF4-FFF2-40B4-BE49-F238E27FC236}">
                <a16:creationId xmlns:a16="http://schemas.microsoft.com/office/drawing/2014/main" id="{3181A398-F57E-48B4-A703-F4D88C2BCD81}"/>
              </a:ext>
            </a:extLst>
          </p:cNvPr>
          <p:cNvSpPr>
            <a:spLocks xmlns:a="http://schemas.openxmlformats.org/drawingml/2006/main" noGrp="1"/>
          </p:cNvSpPr>
          <p:nvPr/>
        </p:nvSpPr>
        <p:spPr>
          <a:xfrm xmlns:a="http://schemas.openxmlformats.org/drawingml/2006/main">
            <a:off x="7353300" y="4000500"/>
            <a:ext cx="19050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73" name="">
            <a:extLst xmlns:a="http://schemas.openxmlformats.org/drawingml/2006/main">
              <a:ext uri="{FF2B5EF4-FFF2-40B4-BE49-F238E27FC236}">
                <a16:creationId xmlns:a16="http://schemas.microsoft.com/office/drawing/2014/main" id="{E977AD80-5900-4BF7-931C-86E980288683}"/>
              </a:ext>
            </a:extLst>
          </p:cNvPr>
          <p:cNvSpPr>
            <a:spLocks xmlns:a="http://schemas.openxmlformats.org/drawingml/2006/main" noGrp="1"/>
          </p:cNvSpPr>
          <p:nvPr/>
        </p:nvSpPr>
        <p:spPr>
          <a:xfrm xmlns:a="http://schemas.openxmlformats.org/drawingml/2006/main">
            <a:off x="7448550" y="4095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.4069</a:t>
            </a:r>
          </a:p>
        </p:txBody>
      </p:sp>
      <p:sp>
        <p:nvSpPr>
          <p:cNvPr id="74" name="">
            <a:extLst xmlns:a="http://schemas.openxmlformats.org/drawingml/2006/main">
              <a:ext uri="{FF2B5EF4-FFF2-40B4-BE49-F238E27FC236}">
                <a16:creationId xmlns:a16="http://schemas.microsoft.com/office/drawing/2014/main" id="{882B012C-AA38-431A-BD6B-3D6C15CC0D1C}"/>
              </a:ext>
            </a:extLst>
          </p:cNvPr>
          <p:cNvSpPr>
            <a:spLocks xmlns:a="http://schemas.openxmlformats.org/drawingml/2006/main" noGrp="1"/>
          </p:cNvSpPr>
          <p:nvPr/>
        </p:nvSpPr>
        <p:spPr>
          <a:xfrm xmlns:a="http://schemas.openxmlformats.org/drawingml/2006/main">
            <a:off x="9258300" y="4000500"/>
            <a:ext cx="21336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75" name="">
            <a:extLst xmlns:a="http://schemas.openxmlformats.org/drawingml/2006/main">
              <a:ext uri="{FF2B5EF4-FFF2-40B4-BE49-F238E27FC236}">
                <a16:creationId xmlns:a16="http://schemas.microsoft.com/office/drawing/2014/main" id="{B3370572-A465-41A6-AC1A-7C2325E4167C}"/>
              </a:ext>
            </a:extLst>
          </p:cNvPr>
          <p:cNvSpPr>
            <a:spLocks xmlns:a="http://schemas.openxmlformats.org/drawingml/2006/main" noGrp="1"/>
          </p:cNvSpPr>
          <p:nvPr/>
        </p:nvSpPr>
        <p:spPr>
          <a:xfrm xmlns:a="http://schemas.openxmlformats.org/drawingml/2006/main">
            <a:off x="9353550" y="40957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.2452</a:t>
            </a:r>
          </a:p>
        </p:txBody>
      </p:sp>
      <p:sp>
        <p:nvSpPr>
          <p:cNvPr id="76" name="">
            <a:extLst xmlns:a="http://schemas.openxmlformats.org/drawingml/2006/main">
              <a:ext uri="{FF2B5EF4-FFF2-40B4-BE49-F238E27FC236}">
                <a16:creationId xmlns:a16="http://schemas.microsoft.com/office/drawing/2014/main" id="{B55CB190-0FAA-438D-973D-E57827702197}"/>
              </a:ext>
            </a:extLst>
          </p:cNvPr>
          <p:cNvSpPr>
            <a:spLocks xmlns:a="http://schemas.openxmlformats.org/drawingml/2006/main" noGrp="1"/>
          </p:cNvSpPr>
          <p:nvPr/>
        </p:nvSpPr>
        <p:spPr>
          <a:xfrm xmlns:a="http://schemas.openxmlformats.org/drawingml/2006/main">
            <a:off x="400050" y="4495800"/>
            <a:ext cx="2952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7" name="">
            <a:extLst xmlns:a="http://schemas.openxmlformats.org/drawingml/2006/main">
              <a:ext uri="{FF2B5EF4-FFF2-40B4-BE49-F238E27FC236}">
                <a16:creationId xmlns:a16="http://schemas.microsoft.com/office/drawing/2014/main" id="{E4136DE4-BFE0-4210-9906-46F074006666}"/>
              </a:ext>
            </a:extLst>
          </p:cNvPr>
          <p:cNvSpPr>
            <a:spLocks xmlns:a="http://schemas.openxmlformats.org/drawingml/2006/main" noGrp="1"/>
          </p:cNvSpPr>
          <p:nvPr/>
        </p:nvSpPr>
        <p:spPr>
          <a:xfrm xmlns:a="http://schemas.openxmlformats.org/drawingml/2006/main">
            <a:off x="495300" y="45910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000000"/>
                </a:solidFill>
                <a:latin typeface="Arial"/>
                <a:ea typeface="Arial"/>
                <a:cs typeface="Arial"/>
              </a:defRPr>
            </a:pPr>
            <a:r>
              <a:rPr sz="1200" b="0">
                <a:solidFill>
                  <a:srgbClr val="000000"/>
                </a:solidFill>
                <a:latin typeface="Arial"/>
                <a:ea typeface="Arial"/>
                <a:cs typeface="Arial"/>
              </a:rPr>
              <a:t>Combined → DAWN</a:t>
            </a:r>
          </a:p>
        </p:txBody>
      </p:sp>
      <p:sp>
        <p:nvSpPr>
          <p:cNvPr id="78" name="">
            <a:extLst xmlns:a="http://schemas.openxmlformats.org/drawingml/2006/main">
              <a:ext uri="{FF2B5EF4-FFF2-40B4-BE49-F238E27FC236}">
                <a16:creationId xmlns:a16="http://schemas.microsoft.com/office/drawing/2014/main" id="{518147A7-5F30-4725-A27D-0375A700F9CA}"/>
              </a:ext>
            </a:extLst>
          </p:cNvPr>
          <p:cNvSpPr>
            <a:spLocks xmlns:a="http://schemas.openxmlformats.org/drawingml/2006/main" noGrp="1"/>
          </p:cNvSpPr>
          <p:nvPr/>
        </p:nvSpPr>
        <p:spPr>
          <a:xfrm xmlns:a="http://schemas.openxmlformats.org/drawingml/2006/main">
            <a:off x="3352800" y="44958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9" name="">
            <a:extLst xmlns:a="http://schemas.openxmlformats.org/drawingml/2006/main">
              <a:ext uri="{FF2B5EF4-FFF2-40B4-BE49-F238E27FC236}">
                <a16:creationId xmlns:a16="http://schemas.microsoft.com/office/drawing/2014/main" id="{4F90EDDF-8E8F-495D-8E25-1612F6200300}"/>
              </a:ext>
            </a:extLst>
          </p:cNvPr>
          <p:cNvSpPr>
            <a:spLocks xmlns:a="http://schemas.openxmlformats.org/drawingml/2006/main" noGrp="1"/>
          </p:cNvSpPr>
          <p:nvPr/>
        </p:nvSpPr>
        <p:spPr>
          <a:xfrm xmlns:a="http://schemas.openxmlformats.org/drawingml/2006/main">
            <a:off x="344805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.8142</a:t>
            </a:r>
          </a:p>
        </p:txBody>
      </p:sp>
      <p:sp>
        <p:nvSpPr>
          <p:cNvPr id="80" name="">
            <a:extLst xmlns:a="http://schemas.openxmlformats.org/drawingml/2006/main">
              <a:ext uri="{FF2B5EF4-FFF2-40B4-BE49-F238E27FC236}">
                <a16:creationId xmlns:a16="http://schemas.microsoft.com/office/drawing/2014/main" id="{2F447CD6-7F79-41E0-8499-89922BE8037C}"/>
              </a:ext>
            </a:extLst>
          </p:cNvPr>
          <p:cNvSpPr>
            <a:spLocks xmlns:a="http://schemas.openxmlformats.org/drawingml/2006/main" noGrp="1"/>
          </p:cNvSpPr>
          <p:nvPr/>
        </p:nvSpPr>
        <p:spPr>
          <a:xfrm xmlns:a="http://schemas.openxmlformats.org/drawingml/2006/main">
            <a:off x="4686300" y="44958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1" name="">
            <a:extLst xmlns:a="http://schemas.openxmlformats.org/drawingml/2006/main">
              <a:ext uri="{FF2B5EF4-FFF2-40B4-BE49-F238E27FC236}">
                <a16:creationId xmlns:a16="http://schemas.microsoft.com/office/drawing/2014/main" id="{1EC85FC0-073F-48B5-A18D-32DA9C5C75A0}"/>
              </a:ext>
            </a:extLst>
          </p:cNvPr>
          <p:cNvSpPr>
            <a:spLocks xmlns:a="http://schemas.openxmlformats.org/drawingml/2006/main" noGrp="1"/>
          </p:cNvSpPr>
          <p:nvPr/>
        </p:nvSpPr>
        <p:spPr>
          <a:xfrm xmlns:a="http://schemas.openxmlformats.org/drawingml/2006/main">
            <a:off x="478155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.6093</a:t>
            </a:r>
          </a:p>
        </p:txBody>
      </p:sp>
      <p:sp>
        <p:nvSpPr>
          <p:cNvPr id="82" name="">
            <a:extLst xmlns:a="http://schemas.openxmlformats.org/drawingml/2006/main">
              <a:ext uri="{FF2B5EF4-FFF2-40B4-BE49-F238E27FC236}">
                <a16:creationId xmlns:a16="http://schemas.microsoft.com/office/drawing/2014/main" id="{E6AB6EA7-2094-4792-B355-D9A170D13D97}"/>
              </a:ext>
            </a:extLst>
          </p:cNvPr>
          <p:cNvSpPr>
            <a:spLocks xmlns:a="http://schemas.openxmlformats.org/drawingml/2006/main" noGrp="1"/>
          </p:cNvSpPr>
          <p:nvPr/>
        </p:nvSpPr>
        <p:spPr>
          <a:xfrm xmlns:a="http://schemas.openxmlformats.org/drawingml/2006/main">
            <a:off x="6019800" y="4495800"/>
            <a:ext cx="1333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3" name="">
            <a:extLst xmlns:a="http://schemas.openxmlformats.org/drawingml/2006/main">
              <a:ext uri="{FF2B5EF4-FFF2-40B4-BE49-F238E27FC236}">
                <a16:creationId xmlns:a16="http://schemas.microsoft.com/office/drawing/2014/main" id="{8E011203-F351-4FC8-9F54-4FDB0B1C8B39}"/>
              </a:ext>
            </a:extLst>
          </p:cNvPr>
          <p:cNvSpPr>
            <a:spLocks xmlns:a="http://schemas.openxmlformats.org/drawingml/2006/main" noGrp="1"/>
          </p:cNvSpPr>
          <p:nvPr/>
        </p:nvSpPr>
        <p:spPr>
          <a:xfrm xmlns:a="http://schemas.openxmlformats.org/drawingml/2006/main">
            <a:off x="611505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.6970</a:t>
            </a:r>
          </a:p>
        </p:txBody>
      </p:sp>
      <p:sp>
        <p:nvSpPr>
          <p:cNvPr id="84" name="">
            <a:extLst xmlns:a="http://schemas.openxmlformats.org/drawingml/2006/main">
              <a:ext uri="{FF2B5EF4-FFF2-40B4-BE49-F238E27FC236}">
                <a16:creationId xmlns:a16="http://schemas.microsoft.com/office/drawing/2014/main" id="{C979ACF9-6589-4350-A5F8-6CCB7E3A5D68}"/>
              </a:ext>
            </a:extLst>
          </p:cNvPr>
          <p:cNvSpPr>
            <a:spLocks xmlns:a="http://schemas.openxmlformats.org/drawingml/2006/main" noGrp="1"/>
          </p:cNvSpPr>
          <p:nvPr/>
        </p:nvSpPr>
        <p:spPr>
          <a:xfrm xmlns:a="http://schemas.openxmlformats.org/drawingml/2006/main">
            <a:off x="7353300" y="4495800"/>
            <a:ext cx="1905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5" name="">
            <a:extLst xmlns:a="http://schemas.openxmlformats.org/drawingml/2006/main">
              <a:ext uri="{FF2B5EF4-FFF2-40B4-BE49-F238E27FC236}">
                <a16:creationId xmlns:a16="http://schemas.microsoft.com/office/drawing/2014/main" id="{A1F9A2B2-7F7D-4C9F-9417-7648CF45EA82}"/>
              </a:ext>
            </a:extLst>
          </p:cNvPr>
          <p:cNvSpPr>
            <a:spLocks xmlns:a="http://schemas.openxmlformats.org/drawingml/2006/main" noGrp="1"/>
          </p:cNvSpPr>
          <p:nvPr/>
        </p:nvSpPr>
        <p:spPr>
          <a:xfrm xmlns:a="http://schemas.openxmlformats.org/drawingml/2006/main">
            <a:off x="7448550" y="4591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.6382</a:t>
            </a:r>
          </a:p>
        </p:txBody>
      </p:sp>
      <p:sp>
        <p:nvSpPr>
          <p:cNvPr id="86" name="">
            <a:extLst xmlns:a="http://schemas.openxmlformats.org/drawingml/2006/main">
              <a:ext uri="{FF2B5EF4-FFF2-40B4-BE49-F238E27FC236}">
                <a16:creationId xmlns:a16="http://schemas.microsoft.com/office/drawing/2014/main" id="{46ABF5D3-6A1E-4736-9779-2243D44AD37F}"/>
              </a:ext>
            </a:extLst>
          </p:cNvPr>
          <p:cNvSpPr>
            <a:spLocks xmlns:a="http://schemas.openxmlformats.org/drawingml/2006/main" noGrp="1"/>
          </p:cNvSpPr>
          <p:nvPr/>
        </p:nvSpPr>
        <p:spPr>
          <a:xfrm xmlns:a="http://schemas.openxmlformats.org/drawingml/2006/main">
            <a:off x="9258300" y="4495800"/>
            <a:ext cx="2133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7" name="">
            <a:extLst xmlns:a="http://schemas.openxmlformats.org/drawingml/2006/main">
              <a:ext uri="{FF2B5EF4-FFF2-40B4-BE49-F238E27FC236}">
                <a16:creationId xmlns:a16="http://schemas.microsoft.com/office/drawing/2014/main" id="{7B791E67-BB78-4DD3-A557-78AFE0E7AA4D}"/>
              </a:ext>
            </a:extLst>
          </p:cNvPr>
          <p:cNvSpPr>
            <a:spLocks xmlns:a="http://schemas.openxmlformats.org/drawingml/2006/main" noGrp="1"/>
          </p:cNvSpPr>
          <p:nvPr/>
        </p:nvSpPr>
        <p:spPr>
          <a:xfrm xmlns:a="http://schemas.openxmlformats.org/drawingml/2006/main">
            <a:off x="9353550" y="45910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.4228</a:t>
            </a:r>
          </a:p>
        </p:txBody>
      </p:sp>
      <p:sp>
        <p:nvSpPr>
          <p:cNvPr id="88" name="">
            <a:extLst xmlns:a="http://schemas.openxmlformats.org/drawingml/2006/main">
              <a:ext uri="{FF2B5EF4-FFF2-40B4-BE49-F238E27FC236}">
                <a16:creationId xmlns:a16="http://schemas.microsoft.com/office/drawing/2014/main" id="{2DDEA8D2-EA68-4B4F-B510-B2AB6B6658F4}"/>
              </a:ext>
            </a:extLst>
          </p:cNvPr>
          <p:cNvSpPr>
            <a:spLocks xmlns:a="http://schemas.openxmlformats.org/drawingml/2006/main" noGrp="1"/>
          </p:cNvSpPr>
          <p:nvPr/>
        </p:nvSpPr>
        <p:spPr>
          <a:xfrm xmlns:a="http://schemas.openxmlformats.org/drawingml/2006/main">
            <a:off x="400050" y="4991100"/>
            <a:ext cx="295275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89" name="">
            <a:extLst xmlns:a="http://schemas.openxmlformats.org/drawingml/2006/main">
              <a:ext uri="{FF2B5EF4-FFF2-40B4-BE49-F238E27FC236}">
                <a16:creationId xmlns:a16="http://schemas.microsoft.com/office/drawing/2014/main" id="{4BAEAA04-8876-4BC1-902A-AE394FAAF124}"/>
              </a:ext>
            </a:extLst>
          </p:cNvPr>
          <p:cNvSpPr>
            <a:spLocks xmlns:a="http://schemas.openxmlformats.org/drawingml/2006/main" noGrp="1"/>
          </p:cNvSpPr>
          <p:nvPr/>
        </p:nvSpPr>
        <p:spPr>
          <a:xfrm xmlns:a="http://schemas.openxmlformats.org/drawingml/2006/main">
            <a:off x="495300" y="50863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000000"/>
                </a:solidFill>
                <a:latin typeface="Arial"/>
                <a:ea typeface="Arial"/>
                <a:cs typeface="Arial"/>
              </a:defRPr>
            </a:pPr>
            <a:r>
              <a:rPr sz="1200" b="0">
                <a:solidFill>
                  <a:srgbClr val="000000"/>
                </a:solidFill>
                <a:latin typeface="Arial"/>
                <a:ea typeface="Arial"/>
                <a:cs typeface="Arial"/>
              </a:rPr>
              <a:t>Combined → Union</a:t>
            </a:r>
          </a:p>
        </p:txBody>
      </p:sp>
      <p:sp>
        <p:nvSpPr>
          <p:cNvPr id="90" name="">
            <a:extLst xmlns:a="http://schemas.openxmlformats.org/drawingml/2006/main">
              <a:ext uri="{FF2B5EF4-FFF2-40B4-BE49-F238E27FC236}">
                <a16:creationId xmlns:a16="http://schemas.microsoft.com/office/drawing/2014/main" id="{180CC46E-732F-4B4E-8009-92AF5EFB484B}"/>
              </a:ext>
            </a:extLst>
          </p:cNvPr>
          <p:cNvSpPr>
            <a:spLocks xmlns:a="http://schemas.openxmlformats.org/drawingml/2006/main" noGrp="1"/>
          </p:cNvSpPr>
          <p:nvPr/>
        </p:nvSpPr>
        <p:spPr>
          <a:xfrm xmlns:a="http://schemas.openxmlformats.org/drawingml/2006/main">
            <a:off x="3352800" y="49911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91" name="">
            <a:extLst xmlns:a="http://schemas.openxmlformats.org/drawingml/2006/main">
              <a:ext uri="{FF2B5EF4-FFF2-40B4-BE49-F238E27FC236}">
                <a16:creationId xmlns:a16="http://schemas.microsoft.com/office/drawing/2014/main" id="{E6150155-6C4C-4332-8E77-35B728BE72FD}"/>
              </a:ext>
            </a:extLst>
          </p:cNvPr>
          <p:cNvSpPr>
            <a:spLocks xmlns:a="http://schemas.openxmlformats.org/drawingml/2006/main" noGrp="1"/>
          </p:cNvSpPr>
          <p:nvPr/>
        </p:nvSpPr>
        <p:spPr>
          <a:xfrm xmlns:a="http://schemas.openxmlformats.org/drawingml/2006/main">
            <a:off x="3448050" y="5086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.5808</a:t>
            </a:r>
          </a:p>
        </p:txBody>
      </p:sp>
      <p:sp>
        <p:nvSpPr>
          <p:cNvPr id="92" name="">
            <a:extLst xmlns:a="http://schemas.openxmlformats.org/drawingml/2006/main">
              <a:ext uri="{FF2B5EF4-FFF2-40B4-BE49-F238E27FC236}">
                <a16:creationId xmlns:a16="http://schemas.microsoft.com/office/drawing/2014/main" id="{139DB3B4-4DF0-4774-819D-C7C38B87FF48}"/>
              </a:ext>
            </a:extLst>
          </p:cNvPr>
          <p:cNvSpPr>
            <a:spLocks xmlns:a="http://schemas.openxmlformats.org/drawingml/2006/main" noGrp="1"/>
          </p:cNvSpPr>
          <p:nvPr/>
        </p:nvSpPr>
        <p:spPr>
          <a:xfrm xmlns:a="http://schemas.openxmlformats.org/drawingml/2006/main">
            <a:off x="4686300" y="49911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93" name="">
            <a:extLst xmlns:a="http://schemas.openxmlformats.org/drawingml/2006/main">
              <a:ext uri="{FF2B5EF4-FFF2-40B4-BE49-F238E27FC236}">
                <a16:creationId xmlns:a16="http://schemas.microsoft.com/office/drawing/2014/main" id="{31948CE3-9ADE-4EC9-881A-D9D1CF122D87}"/>
              </a:ext>
            </a:extLst>
          </p:cNvPr>
          <p:cNvSpPr>
            <a:spLocks xmlns:a="http://schemas.openxmlformats.org/drawingml/2006/main" noGrp="1"/>
          </p:cNvSpPr>
          <p:nvPr/>
        </p:nvSpPr>
        <p:spPr>
          <a:xfrm xmlns:a="http://schemas.openxmlformats.org/drawingml/2006/main">
            <a:off x="4781550" y="5086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.4376</a:t>
            </a:r>
          </a:p>
        </p:txBody>
      </p:sp>
      <p:sp>
        <p:nvSpPr>
          <p:cNvPr id="94" name="">
            <a:extLst xmlns:a="http://schemas.openxmlformats.org/drawingml/2006/main">
              <a:ext uri="{FF2B5EF4-FFF2-40B4-BE49-F238E27FC236}">
                <a16:creationId xmlns:a16="http://schemas.microsoft.com/office/drawing/2014/main" id="{ADC6F203-1FE5-4EB5-B740-8B0D1987B771}"/>
              </a:ext>
            </a:extLst>
          </p:cNvPr>
          <p:cNvSpPr>
            <a:spLocks xmlns:a="http://schemas.openxmlformats.org/drawingml/2006/main" noGrp="1"/>
          </p:cNvSpPr>
          <p:nvPr/>
        </p:nvSpPr>
        <p:spPr>
          <a:xfrm xmlns:a="http://schemas.openxmlformats.org/drawingml/2006/main">
            <a:off x="6019800" y="4991100"/>
            <a:ext cx="13335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95" name="">
            <a:extLst xmlns:a="http://schemas.openxmlformats.org/drawingml/2006/main">
              <a:ext uri="{FF2B5EF4-FFF2-40B4-BE49-F238E27FC236}">
                <a16:creationId xmlns:a16="http://schemas.microsoft.com/office/drawing/2014/main" id="{F773D7E6-0F0D-4AE8-A238-345F8FDD51A2}"/>
              </a:ext>
            </a:extLst>
          </p:cNvPr>
          <p:cNvSpPr>
            <a:spLocks xmlns:a="http://schemas.openxmlformats.org/drawingml/2006/main" noGrp="1"/>
          </p:cNvSpPr>
          <p:nvPr/>
        </p:nvSpPr>
        <p:spPr>
          <a:xfrm xmlns:a="http://schemas.openxmlformats.org/drawingml/2006/main">
            <a:off x="6115050" y="5086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.4991</a:t>
            </a:r>
          </a:p>
        </p:txBody>
      </p:sp>
      <p:sp>
        <p:nvSpPr>
          <p:cNvPr id="96" name="">
            <a:extLst xmlns:a="http://schemas.openxmlformats.org/drawingml/2006/main">
              <a:ext uri="{FF2B5EF4-FFF2-40B4-BE49-F238E27FC236}">
                <a16:creationId xmlns:a16="http://schemas.microsoft.com/office/drawing/2014/main" id="{4A7FBE16-713C-462B-B5EA-E0DA4E826053}"/>
              </a:ext>
            </a:extLst>
          </p:cNvPr>
          <p:cNvSpPr>
            <a:spLocks xmlns:a="http://schemas.openxmlformats.org/drawingml/2006/main" noGrp="1"/>
          </p:cNvSpPr>
          <p:nvPr/>
        </p:nvSpPr>
        <p:spPr>
          <a:xfrm xmlns:a="http://schemas.openxmlformats.org/drawingml/2006/main">
            <a:off x="7353300" y="4991100"/>
            <a:ext cx="19050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97" name="">
            <a:extLst xmlns:a="http://schemas.openxmlformats.org/drawingml/2006/main">
              <a:ext uri="{FF2B5EF4-FFF2-40B4-BE49-F238E27FC236}">
                <a16:creationId xmlns:a16="http://schemas.microsoft.com/office/drawing/2014/main" id="{9D627686-1163-4B78-817C-393A4AB40A88}"/>
              </a:ext>
            </a:extLst>
          </p:cNvPr>
          <p:cNvSpPr>
            <a:spLocks xmlns:a="http://schemas.openxmlformats.org/drawingml/2006/main" noGrp="1"/>
          </p:cNvSpPr>
          <p:nvPr/>
        </p:nvSpPr>
        <p:spPr>
          <a:xfrm xmlns:a="http://schemas.openxmlformats.org/drawingml/2006/main">
            <a:off x="7448550" y="50863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.4472</a:t>
            </a:r>
          </a:p>
        </p:txBody>
      </p:sp>
      <p:sp>
        <p:nvSpPr>
          <p:cNvPr id="98" name="">
            <a:extLst xmlns:a="http://schemas.openxmlformats.org/drawingml/2006/main">
              <a:ext uri="{FF2B5EF4-FFF2-40B4-BE49-F238E27FC236}">
                <a16:creationId xmlns:a16="http://schemas.microsoft.com/office/drawing/2014/main" id="{D80E0096-0574-4250-BFDC-F084CBFD2A04}"/>
              </a:ext>
            </a:extLst>
          </p:cNvPr>
          <p:cNvSpPr>
            <a:spLocks xmlns:a="http://schemas.openxmlformats.org/drawingml/2006/main" noGrp="1"/>
          </p:cNvSpPr>
          <p:nvPr/>
        </p:nvSpPr>
        <p:spPr>
          <a:xfrm xmlns:a="http://schemas.openxmlformats.org/drawingml/2006/main">
            <a:off x="9258300" y="4991100"/>
            <a:ext cx="2133600" cy="495300"/>
          </a:xfrm>
          <a:prstGeom xmlns:a="http://schemas.openxmlformats.org/drawingml/2006/main" prst="rect">
            <a:avLst/>
          </a:prstGeom>
          <a:solidFill xmlns:a="http://schemas.openxmlformats.org/drawingml/2006/main">
            <a:srgbClr val="F3F3F3"/>
          </a:solidFill>
          <a:ln xmlns:a="http://schemas.openxmlformats.org/drawingml/2006/main" w="9525">
            <a:solidFill>
              <a:srgbClr val="B8BCC4"/>
            </a:solidFill>
            <a:prstDash val="solid"/>
          </a:ln>
        </p:spPr>
      </p:sp>
      <p:sp>
        <p:nvSpPr>
          <p:cNvPr id="99" name="">
            <a:extLst xmlns:a="http://schemas.openxmlformats.org/drawingml/2006/main">
              <a:ext uri="{FF2B5EF4-FFF2-40B4-BE49-F238E27FC236}">
                <a16:creationId xmlns:a16="http://schemas.microsoft.com/office/drawing/2014/main" id="{C17977F4-25D8-43F6-857F-932BBCA3AF0F}"/>
              </a:ext>
            </a:extLst>
          </p:cNvPr>
          <p:cNvSpPr>
            <a:spLocks xmlns:a="http://schemas.openxmlformats.org/drawingml/2006/main" noGrp="1"/>
          </p:cNvSpPr>
          <p:nvPr/>
        </p:nvSpPr>
        <p:spPr>
          <a:xfrm xmlns:a="http://schemas.openxmlformats.org/drawingml/2006/main">
            <a:off x="9353550" y="508635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000000"/>
                </a:solidFill>
                <a:latin typeface="Arial"/>
                <a:ea typeface="Arial"/>
                <a:cs typeface="Arial"/>
              </a:defRPr>
            </a:pPr>
            <a:r>
              <a:rPr sz="1200" b="0">
                <a:solidFill>
                  <a:srgbClr val="000000"/>
                </a:solidFill>
                <a:latin typeface="Arial"/>
                <a:ea typeface="Arial"/>
                <a:cs typeface="Arial"/>
              </a:rPr>
              <a:t>.2720</a:t>
            </a:r>
          </a:p>
        </p:txBody>
      </p:sp>
      <p:sp>
        <p:nvSpPr>
          <p:cNvPr id="100" name="">
            <a:extLst xmlns:a="http://schemas.openxmlformats.org/drawingml/2006/main">
              <a:ext uri="{FF2B5EF4-FFF2-40B4-BE49-F238E27FC236}">
                <a16:creationId xmlns:a16="http://schemas.microsoft.com/office/drawing/2014/main" id="{5501634D-45AC-4F5F-8709-9F57EB0F77F3}"/>
              </a:ext>
            </a:extLst>
          </p:cNvPr>
          <p:cNvSpPr>
            <a:spLocks xmlns:a="http://schemas.openxmlformats.org/drawingml/2006/main" noGrp="1"/>
          </p:cNvSpPr>
          <p:nvPr/>
        </p:nvSpPr>
        <p:spPr>
          <a:xfrm xmlns:a="http://schemas.openxmlformats.org/drawingml/2006/main">
            <a:off x="400050" y="5905500"/>
            <a:ext cx="10991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D05A5A"/>
                </a:solidFill>
                <a:latin typeface="Arial"/>
                <a:ea typeface="Arial"/>
                <a:cs typeface="Arial"/>
              </a:defRPr>
            </a:pPr>
            <a:r>
              <a:rPr sz="1200" b="0">
                <a:solidFill>
                  <a:srgbClr val="D05A5A"/>
                </a:solidFill>
                <a:latin typeface="Arial"/>
                <a:ea typeface="Arial"/>
                <a:cs typeface="Arial"/>
              </a:rPr>
              <a:t>ACDC→DAWN F1 = .1983 from unrounded same-row P and R; displayed P/R are rounded.</a:t>
            </a:r>
          </a:p>
        </p:txBody>
      </p:sp>
    </p:spTree>
    <p:extLst>
      <p:ext uri="{BB962C8B-B14F-4D97-AF65-F5344CB8AC3E}">
        <p14:creationId xmlns:p14="http://schemas.microsoft.com/office/powerpoint/2010/main" val="189554536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98BBC2-1E43-4E9C-91BE-B95E14AA668A}"/>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Direct transfer failure is dominated by low recall</a:t>
            </a:r>
          </a:p>
        </p:txBody>
      </p:sp>
      <p:sp>
        <p:nvSpPr>
          <p:cNvPr id="2" name="">
            <a:extLst xmlns:a="http://schemas.openxmlformats.org/drawingml/2006/main">
              <a:ext uri="{FF2B5EF4-FFF2-40B4-BE49-F238E27FC236}">
                <a16:creationId xmlns:a16="http://schemas.microsoft.com/office/drawing/2014/main" id="{BE51B171-6C2F-4A74-9551-22AD7A8BD9EA}"/>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06</a:t>
            </a:r>
          </a:p>
        </p:txBody>
      </p:sp>
      <p:graphicFrame>
        <p:nvGraphicFramePr>
          <p:cNvPr id="14" name="Chart"/>
          <p:cNvGraphicFramePr/>
          <p:nvPr/>
        </p:nvGraphicFramePr>
        <p:xfrm>
          <a:off xmlns:a="http://schemas.openxmlformats.org/drawingml/2006/main" x="400050" y="1381125"/>
          <a:ext xmlns:a="http://schemas.openxmlformats.org/drawingml/2006/main" cx="6858000" cy="4572000"/>
        </p:xfrm>
        <a:graphic xmlns:a="http://schemas.openxmlformats.org/drawingml/2006/main">
          <a:graphicData uri="http://schemas.openxmlformats.org/drawingml/2006/chart">
            <c:chart xmlns:r="http://schemas.openxmlformats.org/officeDocument/2006/relationships" xmlns:c="http://schemas.openxmlformats.org/drawingml/2006/chart" r:id="R0bbf282d03124650"/>
          </a:graphicData>
        </a:graphic>
      </p:graphicFrame>
      <p:sp>
        <p:nvSpPr>
          <p:cNvPr id="4" name="">
            <a:extLst xmlns:a="http://schemas.openxmlformats.org/drawingml/2006/main">
              <a:ext uri="{FF2B5EF4-FFF2-40B4-BE49-F238E27FC236}">
                <a16:creationId xmlns:a16="http://schemas.microsoft.com/office/drawing/2014/main" id="{F1C46F20-04A8-4D7D-9066-93E7E23CE2A0}"/>
              </a:ext>
            </a:extLst>
          </p:cNvPr>
          <p:cNvSpPr>
            <a:spLocks xmlns:a="http://schemas.openxmlformats.org/drawingml/2006/main" noGrp="1"/>
          </p:cNvSpPr>
          <p:nvPr/>
        </p:nvSpPr>
        <p:spPr>
          <a:xfrm xmlns:a="http://schemas.openxmlformats.org/drawingml/2006/main">
            <a:off x="7667625" y="1524000"/>
            <a:ext cx="3714750" cy="171450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839FAE-BD53-45B5-90FC-962F6255B523}"/>
              </a:ext>
            </a:extLst>
          </p:cNvPr>
          <p:cNvSpPr>
            <a:spLocks xmlns:a="http://schemas.openxmlformats.org/drawingml/2006/main" noGrp="1"/>
          </p:cNvSpPr>
          <p:nvPr/>
        </p:nvSpPr>
        <p:spPr>
          <a:xfrm xmlns:a="http://schemas.openxmlformats.org/drawingml/2006/main">
            <a:off x="7953375" y="180975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79"/>
          </a:bodyPr>
          <a:lstStyle xmlns:a="http://schemas.openxmlformats.org/drawingml/2006/main"/>
          <a:p xmlns:a="http://schemas.openxmlformats.org/drawingml/2006/main">
            <a:pPr algn="l">
              <a:buNone/>
              <a:defRPr sz="3150" b="1">
                <a:solidFill>
                  <a:srgbClr val="D05A5A"/>
                </a:solidFill>
                <a:latin typeface="Arial"/>
                <a:ea typeface="Arial"/>
                <a:cs typeface="Arial"/>
              </a:defRPr>
            </a:pPr>
            <a:r>
              <a:rPr sz="3150" b="1">
                <a:solidFill>
                  <a:srgbClr val="D05A5A"/>
                </a:solidFill>
                <a:latin typeface="Arial"/>
                <a:ea typeface="Arial"/>
                <a:cs typeface="Arial"/>
              </a:rPr>
              <a:t>0.1362</a:t>
            </a:r>
          </a:p>
        </p:txBody>
      </p:sp>
      <p:sp>
        <p:nvSpPr>
          <p:cNvPr id="6" name="">
            <a:extLst xmlns:a="http://schemas.openxmlformats.org/drawingml/2006/main">
              <a:ext uri="{FF2B5EF4-FFF2-40B4-BE49-F238E27FC236}">
                <a16:creationId xmlns:a16="http://schemas.microsoft.com/office/drawing/2014/main" id="{E88740AB-A5AA-43FF-BF69-253DFBC132AF}"/>
              </a:ext>
            </a:extLst>
          </p:cNvPr>
          <p:cNvSpPr>
            <a:spLocks xmlns:a="http://schemas.openxmlformats.org/drawingml/2006/main" noGrp="1"/>
          </p:cNvSpPr>
          <p:nvPr/>
        </p:nvSpPr>
        <p:spPr>
          <a:xfrm xmlns:a="http://schemas.openxmlformats.org/drawingml/2006/main">
            <a:off x="7953375" y="23812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000000"/>
                </a:solidFill>
                <a:latin typeface="Arial"/>
                <a:ea typeface="Arial"/>
                <a:cs typeface="Arial"/>
              </a:defRPr>
            </a:pPr>
            <a:r>
              <a:rPr sz="1425" b="0">
                <a:solidFill>
                  <a:srgbClr val="000000"/>
                </a:solidFill>
                <a:latin typeface="Arial"/>
                <a:ea typeface="Arial"/>
                <a:cs typeface="Arial"/>
              </a:rPr>
              <a:t>ACDC → DAWN · recall 0.1190</a:t>
            </a:r>
          </a:p>
        </p:txBody>
      </p:sp>
      <p:sp>
        <p:nvSpPr>
          <p:cNvPr id="7" name="">
            <a:extLst xmlns:a="http://schemas.openxmlformats.org/drawingml/2006/main">
              <a:ext uri="{FF2B5EF4-FFF2-40B4-BE49-F238E27FC236}">
                <a16:creationId xmlns:a16="http://schemas.microsoft.com/office/drawing/2014/main" id="{C217C126-C4ED-42DE-AF77-40ADB4697102}"/>
              </a:ext>
            </a:extLst>
          </p:cNvPr>
          <p:cNvSpPr>
            <a:spLocks xmlns:a="http://schemas.openxmlformats.org/drawingml/2006/main" noGrp="1"/>
          </p:cNvSpPr>
          <p:nvPr/>
        </p:nvSpPr>
        <p:spPr>
          <a:xfrm xmlns:a="http://schemas.openxmlformats.org/drawingml/2006/main">
            <a:off x="7667625" y="3619500"/>
            <a:ext cx="3714750" cy="171450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2E7E48-DFDD-46B4-9447-B51A49478354}"/>
              </a:ext>
            </a:extLst>
          </p:cNvPr>
          <p:cNvSpPr>
            <a:spLocks xmlns:a="http://schemas.openxmlformats.org/drawingml/2006/main" noGrp="1"/>
          </p:cNvSpPr>
          <p:nvPr/>
        </p:nvSpPr>
        <p:spPr>
          <a:xfrm xmlns:a="http://schemas.openxmlformats.org/drawingml/2006/main">
            <a:off x="7953375" y="390525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79"/>
          </a:bodyPr>
          <a:lstStyle xmlns:a="http://schemas.openxmlformats.org/drawingml/2006/main"/>
          <a:p xmlns:a="http://schemas.openxmlformats.org/drawingml/2006/main">
            <a:pPr algn="l">
              <a:buNone/>
              <a:defRPr sz="3150" b="1">
                <a:solidFill>
                  <a:srgbClr val="D05A5A"/>
                </a:solidFill>
                <a:latin typeface="Arial"/>
                <a:ea typeface="Arial"/>
                <a:cs typeface="Arial"/>
              </a:defRPr>
            </a:pPr>
            <a:r>
              <a:rPr sz="3150" b="1">
                <a:solidFill>
                  <a:srgbClr val="D05A5A"/>
                </a:solidFill>
                <a:latin typeface="Arial"/>
                <a:ea typeface="Arial"/>
                <a:cs typeface="Arial"/>
              </a:rPr>
              <a:t>0.1122</a:t>
            </a:r>
          </a:p>
        </p:txBody>
      </p:sp>
      <p:sp>
        <p:nvSpPr>
          <p:cNvPr id="9" name="">
            <a:extLst xmlns:a="http://schemas.openxmlformats.org/drawingml/2006/main">
              <a:ext uri="{FF2B5EF4-FFF2-40B4-BE49-F238E27FC236}">
                <a16:creationId xmlns:a16="http://schemas.microsoft.com/office/drawing/2014/main" id="{AB0A8615-E2C9-454F-A982-694FB26AE11C}"/>
              </a:ext>
            </a:extLst>
          </p:cNvPr>
          <p:cNvSpPr>
            <a:spLocks xmlns:a="http://schemas.openxmlformats.org/drawingml/2006/main" noGrp="1"/>
          </p:cNvSpPr>
          <p:nvPr/>
        </p:nvSpPr>
        <p:spPr>
          <a:xfrm xmlns:a="http://schemas.openxmlformats.org/drawingml/2006/main">
            <a:off x="7953375" y="44767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000000"/>
                </a:solidFill>
                <a:latin typeface="Arial"/>
                <a:ea typeface="Arial"/>
                <a:cs typeface="Arial"/>
              </a:defRPr>
            </a:pPr>
            <a:r>
              <a:rPr sz="1425" b="0">
                <a:solidFill>
                  <a:srgbClr val="000000"/>
                </a:solidFill>
                <a:latin typeface="Arial"/>
                <a:ea typeface="Arial"/>
                <a:cs typeface="Arial"/>
              </a:rPr>
              <a:t>DAWN → ACDC · recall 0.1330</a:t>
            </a:r>
          </a:p>
        </p:txBody>
      </p:sp>
    </p:spTree>
    <p:extLst>
      <p:ext uri="{BB962C8B-B14F-4D97-AF65-F5344CB8AC3E}">
        <p14:creationId xmlns:p14="http://schemas.microsoft.com/office/powerpoint/2010/main" val="14267542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1A0CAA-B3E5-4384-B331-0C50A05A17D2}"/>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22"/>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Combined training improves balance without universal superiority</a:t>
            </a:r>
          </a:p>
        </p:txBody>
      </p:sp>
      <p:sp>
        <p:nvSpPr>
          <p:cNvPr id="2" name="">
            <a:extLst xmlns:a="http://schemas.openxmlformats.org/drawingml/2006/main">
              <a:ext uri="{FF2B5EF4-FFF2-40B4-BE49-F238E27FC236}">
                <a16:creationId xmlns:a16="http://schemas.microsoft.com/office/drawing/2014/main" id="{84FA2404-9541-4546-8CBD-5A928676C237}"/>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E06218B6-AD29-41AC-B7CA-A2B23A7F3B69}"/>
              </a:ext>
            </a:extLst>
          </p:cNvPr>
          <p:cNvSpPr>
            <a:spLocks xmlns:a="http://schemas.openxmlformats.org/drawingml/2006/main" noGrp="1"/>
          </p:cNvSpPr>
          <p:nvPr/>
        </p:nvSpPr>
        <p:spPr>
          <a:xfrm xmlns:a="http://schemas.openxmlformats.org/drawingml/2006/main">
            <a:off x="4000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000000"/>
                </a:solidFill>
                <a:latin typeface="Arial"/>
                <a:ea typeface="Arial"/>
                <a:cs typeface="Arial"/>
              </a:defRPr>
            </a:pPr>
            <a:r>
              <a:rPr sz="1950" b="1">
                <a:solidFill>
                  <a:srgbClr val="000000"/>
                </a:solidFill>
                <a:latin typeface="Arial"/>
                <a:ea typeface="Arial"/>
                <a:cs typeface="Arial"/>
              </a:rPr>
              <a:t>ACDC validation</a:t>
            </a:r>
          </a:p>
        </p:txBody>
      </p:sp>
      <p:sp>
        <p:nvSpPr>
          <p:cNvPr id="4" name="">
            <a:extLst xmlns:a="http://schemas.openxmlformats.org/drawingml/2006/main">
              <a:ext uri="{FF2B5EF4-FFF2-40B4-BE49-F238E27FC236}">
                <a16:creationId xmlns:a16="http://schemas.microsoft.com/office/drawing/2014/main" id="{0DDE972F-49B9-477F-83F1-14903AA98072}"/>
              </a:ext>
            </a:extLst>
          </p:cNvPr>
          <p:cNvSpPr>
            <a:spLocks xmlns:a="http://schemas.openxmlformats.org/drawingml/2006/main" noGrp="1"/>
          </p:cNvSpPr>
          <p:nvPr/>
        </p:nvSpPr>
        <p:spPr>
          <a:xfrm xmlns:a="http://schemas.openxmlformats.org/drawingml/2006/main">
            <a:off x="400050" y="1952625"/>
            <a:ext cx="4762500" cy="1428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509B85-994E-482A-BA61-FB29991A98A3}"/>
              </a:ext>
            </a:extLst>
          </p:cNvPr>
          <p:cNvSpPr>
            <a:spLocks xmlns:a="http://schemas.openxmlformats.org/drawingml/2006/main" noGrp="1"/>
          </p:cNvSpPr>
          <p:nvPr/>
        </p:nvSpPr>
        <p:spPr>
          <a:xfrm xmlns:a="http://schemas.openxmlformats.org/drawingml/2006/main">
            <a:off x="609600" y="2190750"/>
            <a:ext cx="434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000000"/>
                </a:solidFill>
                <a:latin typeface="Arial"/>
                <a:ea typeface="Arial"/>
                <a:cs typeface="Arial"/>
              </a:defRPr>
            </a:pPr>
            <a:r>
              <a:rPr sz="3150" b="1">
                <a:solidFill>
                  <a:srgbClr val="000000"/>
                </a:solidFill>
                <a:latin typeface="Arial"/>
                <a:ea typeface="Arial"/>
                <a:cs typeface="Arial"/>
              </a:rPr>
              <a:t>0.4069</a:t>
            </a:r>
          </a:p>
        </p:txBody>
      </p:sp>
      <p:sp>
        <p:nvSpPr>
          <p:cNvPr id="6" name="">
            <a:extLst xmlns:a="http://schemas.openxmlformats.org/drawingml/2006/main">
              <a:ext uri="{FF2B5EF4-FFF2-40B4-BE49-F238E27FC236}">
                <a16:creationId xmlns:a16="http://schemas.microsoft.com/office/drawing/2014/main" id="{702665D6-39EE-46E2-826E-FE00A0D465FA}"/>
              </a:ext>
            </a:extLst>
          </p:cNvPr>
          <p:cNvSpPr>
            <a:spLocks xmlns:a="http://schemas.openxmlformats.org/drawingml/2006/main" noGrp="1"/>
          </p:cNvSpPr>
          <p:nvPr/>
        </p:nvSpPr>
        <p:spPr>
          <a:xfrm xmlns:a="http://schemas.openxmlformats.org/drawingml/2006/main">
            <a:off x="609600" y="2847975"/>
            <a:ext cx="434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Combined mAP@0.5</a:t>
            </a:r>
          </a:p>
        </p:txBody>
      </p:sp>
      <p:sp>
        <p:nvSpPr>
          <p:cNvPr id="7" name="">
            <a:extLst xmlns:a="http://schemas.openxmlformats.org/drawingml/2006/main">
              <a:ext uri="{FF2B5EF4-FFF2-40B4-BE49-F238E27FC236}">
                <a16:creationId xmlns:a16="http://schemas.microsoft.com/office/drawing/2014/main" id="{BEBCB136-ABB6-44B4-8905-817A50D0331C}"/>
              </a:ext>
            </a:extLst>
          </p:cNvPr>
          <p:cNvSpPr>
            <a:spLocks xmlns:a="http://schemas.openxmlformats.org/drawingml/2006/main" noGrp="1"/>
          </p:cNvSpPr>
          <p:nvPr/>
        </p:nvSpPr>
        <p:spPr>
          <a:xfrm xmlns:a="http://schemas.openxmlformats.org/drawingml/2006/main">
            <a:off x="62293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000000"/>
                </a:solidFill>
                <a:latin typeface="Arial"/>
                <a:ea typeface="Arial"/>
                <a:cs typeface="Arial"/>
              </a:defRPr>
            </a:pPr>
            <a:r>
              <a:rPr sz="1950" b="1">
                <a:solidFill>
                  <a:srgbClr val="000000"/>
                </a:solidFill>
                <a:latin typeface="Arial"/>
                <a:ea typeface="Arial"/>
                <a:cs typeface="Arial"/>
              </a:rPr>
              <a:t>DAWN validation</a:t>
            </a:r>
          </a:p>
        </p:txBody>
      </p:sp>
      <p:sp>
        <p:nvSpPr>
          <p:cNvPr id="8" name="">
            <a:extLst xmlns:a="http://schemas.openxmlformats.org/drawingml/2006/main">
              <a:ext uri="{FF2B5EF4-FFF2-40B4-BE49-F238E27FC236}">
                <a16:creationId xmlns:a16="http://schemas.microsoft.com/office/drawing/2014/main" id="{C43BB093-E2DE-4D23-AAC4-1A4A14FD9220}"/>
              </a:ext>
            </a:extLst>
          </p:cNvPr>
          <p:cNvSpPr>
            <a:spLocks xmlns:a="http://schemas.openxmlformats.org/drawingml/2006/main" noGrp="1"/>
          </p:cNvSpPr>
          <p:nvPr/>
        </p:nvSpPr>
        <p:spPr>
          <a:xfrm xmlns:a="http://schemas.openxmlformats.org/drawingml/2006/main">
            <a:off x="6229350" y="1952625"/>
            <a:ext cx="5162550" cy="1428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9F60602-63CE-48BC-84D4-4B478439341F}"/>
              </a:ext>
            </a:extLst>
          </p:cNvPr>
          <p:cNvSpPr>
            <a:spLocks xmlns:a="http://schemas.openxmlformats.org/drawingml/2006/main" noGrp="1"/>
          </p:cNvSpPr>
          <p:nvPr/>
        </p:nvSpPr>
        <p:spPr>
          <a:xfrm xmlns:a="http://schemas.openxmlformats.org/drawingml/2006/main">
            <a:off x="6438900" y="2190750"/>
            <a:ext cx="4743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000000"/>
                </a:solidFill>
                <a:latin typeface="Arial"/>
                <a:ea typeface="Arial"/>
                <a:cs typeface="Arial"/>
              </a:defRPr>
            </a:pPr>
            <a:r>
              <a:rPr sz="3150" b="1">
                <a:solidFill>
                  <a:srgbClr val="000000"/>
                </a:solidFill>
                <a:latin typeface="Arial"/>
                <a:ea typeface="Arial"/>
                <a:cs typeface="Arial"/>
              </a:rPr>
              <a:t>0.6382</a:t>
            </a:r>
          </a:p>
        </p:txBody>
      </p:sp>
      <p:sp>
        <p:nvSpPr>
          <p:cNvPr id="10" name="">
            <a:extLst xmlns:a="http://schemas.openxmlformats.org/drawingml/2006/main">
              <a:ext uri="{FF2B5EF4-FFF2-40B4-BE49-F238E27FC236}">
                <a16:creationId xmlns:a16="http://schemas.microsoft.com/office/drawing/2014/main" id="{45FE53E9-9EC5-4986-A97D-2BDA44B8D3F8}"/>
              </a:ext>
            </a:extLst>
          </p:cNvPr>
          <p:cNvSpPr>
            <a:spLocks xmlns:a="http://schemas.openxmlformats.org/drawingml/2006/main" noGrp="1"/>
          </p:cNvSpPr>
          <p:nvPr/>
        </p:nvSpPr>
        <p:spPr>
          <a:xfrm xmlns:a="http://schemas.openxmlformats.org/drawingml/2006/main">
            <a:off x="6438900" y="2847975"/>
            <a:ext cx="4743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Combined mAP@0.5</a:t>
            </a:r>
          </a:p>
        </p:txBody>
      </p:sp>
      <p:sp>
        <p:nvSpPr>
          <p:cNvPr id="11" name="">
            <a:extLst xmlns:a="http://schemas.openxmlformats.org/drawingml/2006/main">
              <a:ext uri="{FF2B5EF4-FFF2-40B4-BE49-F238E27FC236}">
                <a16:creationId xmlns:a16="http://schemas.microsoft.com/office/drawing/2014/main" id="{FD571CED-210D-42E2-8A08-C7828236B565}"/>
              </a:ext>
            </a:extLst>
          </p:cNvPr>
          <p:cNvSpPr>
            <a:spLocks xmlns:a="http://schemas.openxmlformats.org/drawingml/2006/main" noGrp="1"/>
          </p:cNvSpPr>
          <p:nvPr/>
        </p:nvSpPr>
        <p:spPr>
          <a:xfrm xmlns:a="http://schemas.openxmlformats.org/drawingml/2006/main">
            <a:off x="400050" y="3905250"/>
            <a:ext cx="10991850" cy="1428750"/>
          </a:xfrm>
          <a:prstGeom xmlns:a="http://schemas.openxmlformats.org/drawingml/2006/main" prst="rect">
            <a:avLst/>
          </a:prstGeom>
          <a:solidFill xmlns:a="http://schemas.openxmlformats.org/drawingml/2006/main">
            <a:srgbClr val="153A5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C0C2BA3-5551-4A6A-A8C6-2320C4A36C2F}"/>
              </a:ext>
            </a:extLst>
          </p:cNvPr>
          <p:cNvSpPr>
            <a:spLocks xmlns:a="http://schemas.openxmlformats.org/drawingml/2006/main" noGrp="1"/>
          </p:cNvSpPr>
          <p:nvPr/>
        </p:nvSpPr>
        <p:spPr>
          <a:xfrm xmlns:a="http://schemas.openxmlformats.org/drawingml/2006/main">
            <a:off x="704850" y="4171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6DCBF4"/>
                </a:solidFill>
                <a:latin typeface="Arial"/>
                <a:ea typeface="Arial"/>
                <a:cs typeface="Arial"/>
              </a:defRPr>
            </a:pPr>
            <a:r>
              <a:rPr sz="1350" b="1">
                <a:solidFill>
                  <a:srgbClr val="6DCBF4"/>
                </a:solidFill>
                <a:latin typeface="Arial"/>
                <a:ea typeface="Arial"/>
                <a:cs typeface="Arial"/>
              </a:rPr>
              <a:t>Defensible claim</a:t>
            </a:r>
          </a:p>
        </p:txBody>
      </p:sp>
      <p:sp>
        <p:nvSpPr>
          <p:cNvPr id="13" name="">
            <a:extLst xmlns:a="http://schemas.openxmlformats.org/drawingml/2006/main">
              <a:ext uri="{FF2B5EF4-FFF2-40B4-BE49-F238E27FC236}">
                <a16:creationId xmlns:a16="http://schemas.microsoft.com/office/drawing/2014/main" id="{B4230725-D985-4B7A-AC0F-4E480569698E}"/>
              </a:ext>
            </a:extLst>
          </p:cNvPr>
          <p:cNvSpPr>
            <a:spLocks xmlns:a="http://schemas.openxmlformats.org/drawingml/2006/main" noGrp="1"/>
          </p:cNvSpPr>
          <p:nvPr/>
        </p:nvSpPr>
        <p:spPr>
          <a:xfrm xmlns:a="http://schemas.openxmlformats.org/drawingml/2006/main">
            <a:off x="2952750" y="4114800"/>
            <a:ext cx="80200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0">
                <a:solidFill>
                  <a:srgbClr val="FFFFFF"/>
                </a:solidFill>
                <a:latin typeface="Arial"/>
                <a:ea typeface="Arial"/>
                <a:cs typeface="Arial"/>
              </a:defRPr>
            </a:pPr>
            <a:r>
              <a:rPr sz="2025" b="0">
                <a:solidFill>
                  <a:srgbClr val="FFFFFF"/>
                </a:solidFill>
                <a:latin typeface="Arial"/>
                <a:ea typeface="Arial"/>
                <a:cs typeface="Arial"/>
              </a:rPr>
              <a:t>The joint configuration is the most balanced descriptive outcome across the two validation domains—not the universally best model.</a:t>
            </a:r>
          </a:p>
        </p:txBody>
      </p:sp>
    </p:spTree>
    <p:extLst>
      <p:ext uri="{BB962C8B-B14F-4D97-AF65-F5344CB8AC3E}">
        <p14:creationId xmlns:p14="http://schemas.microsoft.com/office/powerpoint/2010/main" val="17055449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D569D4-9953-4FC3-A92E-53978946593C}"/>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Small support can create apparently strong results</a:t>
            </a:r>
          </a:p>
        </p:txBody>
      </p:sp>
      <p:sp>
        <p:nvSpPr>
          <p:cNvPr id="2" name="">
            <a:extLst xmlns:a="http://schemas.openxmlformats.org/drawingml/2006/main">
              <a:ext uri="{FF2B5EF4-FFF2-40B4-BE49-F238E27FC236}">
                <a16:creationId xmlns:a16="http://schemas.microsoft.com/office/drawing/2014/main" id="{661C8DFD-75DC-4719-8704-531CF284DDE4}"/>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53FB990-ADC3-4D84-B038-DF0D0480213C}"/>
              </a:ext>
            </a:extLst>
          </p:cNvPr>
          <p:cNvSpPr>
            <a:spLocks xmlns:a="http://schemas.openxmlformats.org/drawingml/2006/main" noGrp="1"/>
          </p:cNvSpPr>
          <p:nvPr/>
        </p:nvSpPr>
        <p:spPr>
          <a:xfrm xmlns:a="http://schemas.openxmlformats.org/drawingml/2006/main">
            <a:off x="400050" y="1476375"/>
            <a:ext cx="5257800" cy="37147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A8C5F5-CE9F-4403-BB07-AE01F9792F24}"/>
              </a:ext>
            </a:extLst>
          </p:cNvPr>
          <p:cNvSpPr>
            <a:spLocks xmlns:a="http://schemas.openxmlformats.org/drawingml/2006/main" noGrp="1"/>
          </p:cNvSpPr>
          <p:nvPr/>
        </p:nvSpPr>
        <p:spPr>
          <a:xfrm xmlns:a="http://schemas.openxmlformats.org/drawingml/2006/main">
            <a:off x="704850" y="1762125"/>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54"/>
          </a:bodyPr>
          <a:lstStyle xmlns:a="http://schemas.openxmlformats.org/drawingml/2006/main"/>
          <a:p xmlns:a="http://schemas.openxmlformats.org/drawingml/2006/main">
            <a:pPr algn="l">
              <a:buNone/>
              <a:defRPr sz="2025" b="1">
                <a:solidFill>
                  <a:srgbClr val="000000"/>
                </a:solidFill>
                <a:latin typeface="Arial"/>
                <a:ea typeface="Arial"/>
                <a:cs typeface="Arial"/>
              </a:defRPr>
            </a:pPr>
            <a:r>
              <a:rPr sz="2025" b="1">
                <a:solidFill>
                  <a:srgbClr val="000000"/>
                </a:solidFill>
                <a:latin typeface="Arial"/>
                <a:ea typeface="Arial"/>
                <a:cs typeface="Arial"/>
              </a:rPr>
              <a:t>Rare train class</a:t>
            </a:r>
          </a:p>
        </p:txBody>
      </p:sp>
      <p:sp>
        <p:nvSpPr>
          <p:cNvPr id="5" name="">
            <a:extLst xmlns:a="http://schemas.openxmlformats.org/drawingml/2006/main">
              <a:ext uri="{FF2B5EF4-FFF2-40B4-BE49-F238E27FC236}">
                <a16:creationId xmlns:a16="http://schemas.microsoft.com/office/drawing/2014/main" id="{FCE5B4CD-09B5-4F0F-94A1-5CFB589379FF}"/>
              </a:ext>
            </a:extLst>
          </p:cNvPr>
          <p:cNvSpPr>
            <a:spLocks xmlns:a="http://schemas.openxmlformats.org/drawingml/2006/main" noGrp="1"/>
          </p:cNvSpPr>
          <p:nvPr/>
        </p:nvSpPr>
        <p:spPr>
          <a:xfrm xmlns:a="http://schemas.openxmlformats.org/drawingml/2006/main">
            <a:off x="704850" y="2381250"/>
            <a:ext cx="1428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917"/>
          </a:bodyPr>
          <a:lstStyle xmlns:a="http://schemas.openxmlformats.org/drawingml/2006/main"/>
          <a:p xmlns:a="http://schemas.openxmlformats.org/drawingml/2006/main">
            <a:pPr algn="l">
              <a:buNone/>
              <a:defRPr sz="3600" b="1">
                <a:solidFill>
                  <a:srgbClr val="D05A5A"/>
                </a:solidFill>
                <a:latin typeface="Arial"/>
                <a:ea typeface="Arial"/>
                <a:cs typeface="Arial"/>
              </a:defRPr>
            </a:pPr>
            <a:r>
              <a:rPr sz="3600" b="1">
                <a:solidFill>
                  <a:srgbClr val="D05A5A"/>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C9935EF7-CDB7-476A-AFB0-1C9844C28A6F}"/>
              </a:ext>
            </a:extLst>
          </p:cNvPr>
          <p:cNvSpPr>
            <a:spLocks xmlns:a="http://schemas.openxmlformats.org/drawingml/2006/main" noGrp="1"/>
          </p:cNvSpPr>
          <p:nvPr/>
        </p:nvSpPr>
        <p:spPr>
          <a:xfrm xmlns:a="http://schemas.openxmlformats.org/drawingml/2006/main">
            <a:off x="1676400" y="25717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retained validation instances</a:t>
            </a:r>
          </a:p>
        </p:txBody>
      </p:sp>
      <p:sp>
        <p:nvSpPr>
          <p:cNvPr id="7" name="">
            <a:extLst xmlns:a="http://schemas.openxmlformats.org/drawingml/2006/main">
              <a:ext uri="{FF2B5EF4-FFF2-40B4-BE49-F238E27FC236}">
                <a16:creationId xmlns:a16="http://schemas.microsoft.com/office/drawing/2014/main" id="{21BC233A-88FD-4E84-8DE9-97503CB9D981}"/>
              </a:ext>
            </a:extLst>
          </p:cNvPr>
          <p:cNvSpPr>
            <a:spLocks xmlns:a="http://schemas.openxmlformats.org/drawingml/2006/main" noGrp="1"/>
          </p:cNvSpPr>
          <p:nvPr/>
        </p:nvSpPr>
        <p:spPr>
          <a:xfrm xmlns:a="http://schemas.openxmlformats.org/drawingml/2006/main">
            <a:off x="704850" y="3257550"/>
            <a:ext cx="4476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000000"/>
                </a:solidFill>
                <a:latin typeface="Arial"/>
                <a:ea typeface="Arial"/>
                <a:cs typeface="Arial"/>
              </a:defRPr>
            </a:pPr>
            <a:r>
              <a:rPr sz="1725" b="0">
                <a:solidFill>
                  <a:srgbClr val="000000"/>
                </a:solidFill>
                <a:latin typeface="Arial"/>
                <a:ea typeface="Arial"/>
                <a:cs typeface="Arial"/>
              </a:rPr>
              <a:t>A displayed ≈0.83-confidence train box is one qualitative prediction—not class accuracy or robust class performance.</a:t>
            </a:r>
          </a:p>
        </p:txBody>
      </p:sp>
      <p:sp>
        <p:nvSpPr>
          <p:cNvPr id="8" name="">
            <a:extLst xmlns:a="http://schemas.openxmlformats.org/drawingml/2006/main">
              <a:ext uri="{FF2B5EF4-FFF2-40B4-BE49-F238E27FC236}">
                <a16:creationId xmlns:a16="http://schemas.microsoft.com/office/drawing/2014/main" id="{B8AA417F-5A9C-4D91-92AD-D0495C11BDD1}"/>
              </a:ext>
            </a:extLst>
          </p:cNvPr>
          <p:cNvSpPr>
            <a:spLocks xmlns:a="http://schemas.openxmlformats.org/drawingml/2006/main" noGrp="1"/>
          </p:cNvSpPr>
          <p:nvPr/>
        </p:nvSpPr>
        <p:spPr>
          <a:xfrm xmlns:a="http://schemas.openxmlformats.org/drawingml/2006/main">
            <a:off x="6115050" y="1476375"/>
            <a:ext cx="5276850" cy="3714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077C747-500B-43CD-A00A-B487E11C5814}"/>
              </a:ext>
            </a:extLst>
          </p:cNvPr>
          <p:cNvSpPr>
            <a:spLocks xmlns:a="http://schemas.openxmlformats.org/drawingml/2006/main" noGrp="1"/>
          </p:cNvSpPr>
          <p:nvPr/>
        </p:nvSpPr>
        <p:spPr>
          <a:xfrm xmlns:a="http://schemas.openxmlformats.org/drawingml/2006/main">
            <a:off x="6419850" y="1762125"/>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54"/>
          </a:bodyPr>
          <a:lstStyle xmlns:a="http://schemas.openxmlformats.org/drawingml/2006/main"/>
          <a:p xmlns:a="http://schemas.openxmlformats.org/drawingml/2006/main">
            <a:pPr algn="l">
              <a:buNone/>
              <a:defRPr sz="2025" b="1">
                <a:solidFill>
                  <a:srgbClr val="000000"/>
                </a:solidFill>
                <a:latin typeface="Arial"/>
                <a:ea typeface="Arial"/>
                <a:cs typeface="Arial"/>
              </a:defRPr>
            </a:pPr>
            <a:r>
              <a:rPr sz="2025" b="1">
                <a:solidFill>
                  <a:srgbClr val="000000"/>
                </a:solidFill>
                <a:latin typeface="Arial"/>
                <a:ea typeface="Arial"/>
                <a:cs typeface="Arial"/>
              </a:rPr>
              <a:t>DAWN Rain saturation</a:t>
            </a:r>
          </a:p>
        </p:txBody>
      </p:sp>
      <p:sp>
        <p:nvSpPr>
          <p:cNvPr id="10" name="">
            <a:extLst xmlns:a="http://schemas.openxmlformats.org/drawingml/2006/main">
              <a:ext uri="{FF2B5EF4-FFF2-40B4-BE49-F238E27FC236}">
                <a16:creationId xmlns:a16="http://schemas.microsoft.com/office/drawing/2014/main" id="{CB0077AF-ACDF-48E0-A379-FED1EDDDFC28}"/>
              </a:ext>
            </a:extLst>
          </p:cNvPr>
          <p:cNvSpPr>
            <a:spLocks xmlns:a="http://schemas.openxmlformats.org/drawingml/2006/main" noGrp="1"/>
          </p:cNvSpPr>
          <p:nvPr/>
        </p:nvSpPr>
        <p:spPr>
          <a:xfrm xmlns:a="http://schemas.openxmlformats.org/drawingml/2006/main">
            <a:off x="6419850" y="23812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917"/>
          </a:bodyPr>
          <a:lstStyle xmlns:a="http://schemas.openxmlformats.org/drawingml/2006/main"/>
          <a:p xmlns:a="http://schemas.openxmlformats.org/drawingml/2006/main">
            <a:pPr algn="l">
              <a:buNone/>
              <a:defRPr sz="3600" b="1">
                <a:solidFill>
                  <a:srgbClr val="3D8DFF"/>
                </a:solidFill>
                <a:latin typeface="Arial"/>
                <a:ea typeface="Arial"/>
                <a:cs typeface="Arial"/>
              </a:defRPr>
            </a:pPr>
            <a:r>
              <a:rPr sz="3600" b="1">
                <a:solidFill>
                  <a:srgbClr val="3D8DFF"/>
                </a:solidFill>
                <a:latin typeface="Arial"/>
                <a:ea typeface="Arial"/>
                <a:cs typeface="Arial"/>
              </a:rPr>
              <a:t>0.9916</a:t>
            </a:r>
          </a:p>
        </p:txBody>
      </p:sp>
      <p:sp>
        <p:nvSpPr>
          <p:cNvPr id="11" name="">
            <a:extLst xmlns:a="http://schemas.openxmlformats.org/drawingml/2006/main">
              <a:ext uri="{FF2B5EF4-FFF2-40B4-BE49-F238E27FC236}">
                <a16:creationId xmlns:a16="http://schemas.microsoft.com/office/drawing/2014/main" id="{6749F263-E81F-4B05-9200-96B39F22B57D}"/>
              </a:ext>
            </a:extLst>
          </p:cNvPr>
          <p:cNvSpPr>
            <a:spLocks xmlns:a="http://schemas.openxmlformats.org/drawingml/2006/main" noGrp="1"/>
          </p:cNvSpPr>
          <p:nvPr/>
        </p:nvSpPr>
        <p:spPr>
          <a:xfrm xmlns:a="http://schemas.openxmlformats.org/drawingml/2006/main">
            <a:off x="8305800" y="2571750"/>
            <a:ext cx="2619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03"/>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mAP@0.5 · 42 validation images</a:t>
            </a:r>
          </a:p>
        </p:txBody>
      </p:sp>
      <p:sp>
        <p:nvSpPr>
          <p:cNvPr id="12" name="">
            <a:extLst xmlns:a="http://schemas.openxmlformats.org/drawingml/2006/main">
              <a:ext uri="{FF2B5EF4-FFF2-40B4-BE49-F238E27FC236}">
                <a16:creationId xmlns:a16="http://schemas.microsoft.com/office/drawing/2014/main" id="{F02C11E5-515B-4F98-BC9D-235BB9A64751}"/>
              </a:ext>
            </a:extLst>
          </p:cNvPr>
          <p:cNvSpPr>
            <a:spLocks xmlns:a="http://schemas.openxmlformats.org/drawingml/2006/main" noGrp="1"/>
          </p:cNvSpPr>
          <p:nvPr/>
        </p:nvSpPr>
        <p:spPr>
          <a:xfrm xmlns:a="http://schemas.openxmlformats.org/drawingml/2006/main">
            <a:off x="6419850" y="3257550"/>
            <a:ext cx="4476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000000"/>
                </a:solidFill>
                <a:latin typeface="Arial"/>
                <a:ea typeface="Arial"/>
                <a:cs typeface="Arial"/>
              </a:defRPr>
            </a:pPr>
            <a:r>
              <a:rPr sz="1725" b="0">
                <a:solidFill>
                  <a:srgbClr val="000000"/>
                </a:solidFill>
                <a:latin typeface="Arial"/>
                <a:ea typeface="Arial"/>
                <a:cs typeface="Arial"/>
              </a:rPr>
              <a:t>Repeated framing, similar viewpoints and limited background diversity can make a small subset easy to saturate.</a:t>
            </a:r>
          </a:p>
        </p:txBody>
      </p:sp>
      <p:sp>
        <p:nvSpPr>
          <p:cNvPr id="13" name="">
            <a:extLst xmlns:a="http://schemas.openxmlformats.org/drawingml/2006/main">
              <a:ext uri="{FF2B5EF4-FFF2-40B4-BE49-F238E27FC236}">
                <a16:creationId xmlns:a16="http://schemas.microsoft.com/office/drawing/2014/main" id="{32B88C12-CBC8-4775-888A-19AA39FFFA43}"/>
              </a:ext>
            </a:extLst>
          </p:cNvPr>
          <p:cNvSpPr>
            <a:spLocks xmlns:a="http://schemas.openxmlformats.org/drawingml/2006/main" noGrp="1"/>
          </p:cNvSpPr>
          <p:nvPr/>
        </p:nvSpPr>
        <p:spPr>
          <a:xfrm xmlns:a="http://schemas.openxmlformats.org/drawingml/2006/main">
            <a:off x="400050" y="5715000"/>
            <a:ext cx="10991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ctr">
              <a:buNone/>
              <a:defRPr sz="1725" b="1">
                <a:solidFill>
                  <a:srgbClr val="D05A5A"/>
                </a:solidFill>
                <a:latin typeface="Arial"/>
                <a:ea typeface="Arial"/>
                <a:cs typeface="Arial"/>
              </a:defRPr>
            </a:pPr>
            <a:r>
              <a:rPr sz="1725" b="1">
                <a:solidFill>
                  <a:srgbClr val="D05A5A"/>
                </a:solidFill>
                <a:latin typeface="Arial"/>
                <a:ea typeface="Arial"/>
                <a:cs typeface="Arial"/>
              </a:rPr>
              <a:t>Both remain validation-bound descriptive observations.</a:t>
            </a:r>
          </a:p>
        </p:txBody>
      </p:sp>
    </p:spTree>
    <p:extLst>
      <p:ext uri="{BB962C8B-B14F-4D97-AF65-F5344CB8AC3E}">
        <p14:creationId xmlns:p14="http://schemas.microsoft.com/office/powerpoint/2010/main" val="15764824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74A9FF-2E58-43FB-92C4-9D48866B896C}"/>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Matched ACDC Fog evidence reveals detection errors</a:t>
            </a:r>
          </a:p>
        </p:txBody>
      </p:sp>
      <p:sp>
        <p:nvSpPr>
          <p:cNvPr id="2" name="">
            <a:extLst xmlns:a="http://schemas.openxmlformats.org/drawingml/2006/main">
              <a:ext uri="{FF2B5EF4-FFF2-40B4-BE49-F238E27FC236}">
                <a16:creationId xmlns:a16="http://schemas.microsoft.com/office/drawing/2014/main" id="{0E7141AD-CBB1-4688-99D3-C093D756E4CB}"/>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09</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f1b42c2db344866"/>
          <a:srcRect xmlns:a="http://schemas.openxmlformats.org/drawingml/2006/main" l="0" t="800" r="0" b="800"/>
          <a:stretch xmlns:a="http://schemas.openxmlformats.org/drawingml/2006/main">
            <a:fillRect l="0" t="0" r="0" b="0"/>
          </a:stretch>
        </p:blipFill>
        <p:spPr>
          <a:xfrm xmlns:a="http://schemas.openxmlformats.org/drawingml/2006/main">
            <a:off x="400050" y="1428750"/>
            <a:ext cx="5314950" cy="299085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d13abe191ec4159"/>
          <a:srcRect xmlns:a="http://schemas.openxmlformats.org/drawingml/2006/main" l="0" t="800" r="0" b="800"/>
          <a:stretch xmlns:a="http://schemas.openxmlformats.org/drawingml/2006/main">
            <a:fillRect l="0" t="0" r="0" b="0"/>
          </a:stretch>
        </p:blipFill>
        <p:spPr>
          <a:xfrm xmlns:a="http://schemas.openxmlformats.org/drawingml/2006/main">
            <a:off x="6076950" y="1428750"/>
            <a:ext cx="5314950" cy="2990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07BC2F-A58E-475A-AD50-799862DF2861}"/>
              </a:ext>
            </a:extLst>
          </p:cNvPr>
          <p:cNvSpPr>
            <a:spLocks xmlns:a="http://schemas.openxmlformats.org/drawingml/2006/main" noGrp="1"/>
          </p:cNvSpPr>
          <p:nvPr/>
        </p:nvSpPr>
        <p:spPr>
          <a:xfrm xmlns:a="http://schemas.openxmlformats.org/drawingml/2006/main">
            <a:off x="400050" y="4457700"/>
            <a:ext cx="531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000000"/>
                </a:solidFill>
                <a:latin typeface="Arial"/>
                <a:ea typeface="Arial"/>
                <a:cs typeface="Arial"/>
              </a:defRPr>
            </a:pPr>
            <a:r>
              <a:rPr sz="1350" b="1">
                <a:solidFill>
                  <a:srgbClr val="000000"/>
                </a:solidFill>
                <a:latin typeface="Arial"/>
                <a:ea typeface="Arial"/>
                <a:cs typeface="Arial"/>
              </a:rPr>
              <a:t>Ground truth · matched frame</a:t>
            </a:r>
          </a:p>
        </p:txBody>
      </p:sp>
      <p:sp>
        <p:nvSpPr>
          <p:cNvPr id="7" name="">
            <a:extLst xmlns:a="http://schemas.openxmlformats.org/drawingml/2006/main">
              <a:ext uri="{FF2B5EF4-FFF2-40B4-BE49-F238E27FC236}">
                <a16:creationId xmlns:a16="http://schemas.microsoft.com/office/drawing/2014/main" id="{AA03BEEE-0F1F-457D-8387-C8E04445E902}"/>
              </a:ext>
            </a:extLst>
          </p:cNvPr>
          <p:cNvSpPr>
            <a:spLocks xmlns:a="http://schemas.openxmlformats.org/drawingml/2006/main" noGrp="1"/>
          </p:cNvSpPr>
          <p:nvPr/>
        </p:nvSpPr>
        <p:spPr>
          <a:xfrm xmlns:a="http://schemas.openxmlformats.org/drawingml/2006/main">
            <a:off x="6076950" y="4457700"/>
            <a:ext cx="531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000000"/>
                </a:solidFill>
                <a:latin typeface="Arial"/>
                <a:ea typeface="Arial"/>
                <a:cs typeface="Arial"/>
              </a:defRPr>
            </a:pPr>
            <a:r>
              <a:rPr sz="1350" b="1">
                <a:solidFill>
                  <a:srgbClr val="000000"/>
                </a:solidFill>
                <a:latin typeface="Arial"/>
                <a:ea typeface="Arial"/>
                <a:cs typeface="Arial"/>
              </a:rPr>
              <a:t>YOLO prediction · same frame</a:t>
            </a:r>
          </a:p>
        </p:txBody>
      </p:sp>
      <p:sp>
        <p:nvSpPr>
          <p:cNvPr id="9" name="">
            <a:extLst xmlns:a="http://schemas.openxmlformats.org/drawingml/2006/main">
              <a:ext uri="{FF2B5EF4-FFF2-40B4-BE49-F238E27FC236}">
                <a16:creationId xmlns:a16="http://schemas.microsoft.com/office/drawing/2014/main" id="{76F67C4B-7D68-47D0-BC32-88C54CB9B0C1}"/>
              </a:ext>
            </a:extLst>
          </p:cNvPr>
          <p:cNvSpPr>
            <a:spLocks xmlns:a="http://schemas.openxmlformats.org/drawingml/2006/main" noGrp="1"/>
          </p:cNvSpPr>
          <p:nvPr/>
        </p:nvSpPr>
        <p:spPr>
          <a:xfrm xmlns:a="http://schemas.openxmlformats.org/drawingml/2006/main">
            <a:off x="400050" y="4762500"/>
            <a:ext cx="10991850" cy="97155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99C10B-E938-41B5-86DA-9593272BC3EB}"/>
              </a:ext>
            </a:extLst>
          </p:cNvPr>
          <p:cNvSpPr>
            <a:spLocks xmlns:a="http://schemas.openxmlformats.org/drawingml/2006/main" noGrp="1"/>
          </p:cNvSpPr>
          <p:nvPr/>
        </p:nvSpPr>
        <p:spPr>
          <a:xfrm xmlns:a="http://schemas.openxmlformats.org/drawingml/2006/main">
            <a:off x="647700" y="50292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127"/>
          </a:bodyPr>
          <a:lstStyle xmlns:a="http://schemas.openxmlformats.org/drawingml/2006/main"/>
          <a:p xmlns:a="http://schemas.openxmlformats.org/drawingml/2006/main">
            <a:pPr algn="l">
              <a:buNone/>
              <a:defRPr sz="1575" b="1">
                <a:solidFill>
                  <a:srgbClr val="D05A5A"/>
                </a:solidFill>
                <a:latin typeface="Arial"/>
                <a:ea typeface="Arial"/>
                <a:cs typeface="Arial"/>
              </a:defRPr>
            </a:pPr>
            <a:r>
              <a:rPr sz="1575" b="1">
                <a:solidFill>
                  <a:srgbClr val="D05A5A"/>
                </a:solidFill>
                <a:latin typeface="Arial"/>
                <a:ea typeface="Arial"/>
                <a:cs typeface="Arial"/>
              </a:rPr>
              <a:t>Matched crop only: source pixels and annotations are unchanged. It illustrates errors, but does not estimate cell-level error rates.</a:t>
            </a:r>
          </a:p>
        </p:txBody>
      </p:sp>
    </p:spTree>
    <p:extLst>
      <p:ext uri="{BB962C8B-B14F-4D97-AF65-F5344CB8AC3E}">
        <p14:creationId xmlns:p14="http://schemas.microsoft.com/office/powerpoint/2010/main" val="157947873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D7BD66-3D00-415E-913C-6FC220C28606}"/>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CARLA remains a qualitative diagnostic boundary</a:t>
            </a:r>
          </a:p>
        </p:txBody>
      </p:sp>
      <p:sp>
        <p:nvSpPr>
          <p:cNvPr id="2" name="">
            <a:extLst xmlns:a="http://schemas.openxmlformats.org/drawingml/2006/main">
              <a:ext uri="{FF2B5EF4-FFF2-40B4-BE49-F238E27FC236}">
                <a16:creationId xmlns:a16="http://schemas.microsoft.com/office/drawing/2014/main" id="{C41053F5-2E46-4B8A-BD22-F203F3FA327C}"/>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10</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315760b03ca49f3"/>
          <a:stretch xmlns:a="http://schemas.openxmlformats.org/drawingml/2006/main"/>
        </p:blipFill>
        <p:spPr>
          <a:xfrm xmlns:a="http://schemas.openxmlformats.org/drawingml/2006/main">
            <a:off x="913171" y="1381125"/>
            <a:ext cx="5641258" cy="3886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D09594-192D-4EE9-A684-430F0B607DC9}"/>
              </a:ext>
            </a:extLst>
          </p:cNvPr>
          <p:cNvSpPr>
            <a:spLocks xmlns:a="http://schemas.openxmlformats.org/drawingml/2006/main" noGrp="1"/>
          </p:cNvSpPr>
          <p:nvPr/>
        </p:nvSpPr>
        <p:spPr>
          <a:xfrm xmlns:a="http://schemas.openxmlformats.org/drawingml/2006/main">
            <a:off x="7448550" y="1381125"/>
            <a:ext cx="3943350" cy="38862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AC4808-7B86-43D4-861A-8BF0B873806C}"/>
              </a:ext>
            </a:extLst>
          </p:cNvPr>
          <p:cNvSpPr>
            <a:spLocks xmlns:a="http://schemas.openxmlformats.org/drawingml/2006/main" noGrp="1"/>
          </p:cNvSpPr>
          <p:nvPr/>
        </p:nvSpPr>
        <p:spPr>
          <a:xfrm xmlns:a="http://schemas.openxmlformats.org/drawingml/2006/main">
            <a:off x="7753350" y="1714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000000"/>
                </a:solidFill>
                <a:latin typeface="Arial"/>
                <a:ea typeface="Arial"/>
                <a:cs typeface="Arial"/>
              </a:defRPr>
            </a:pPr>
            <a:r>
              <a:rPr sz="1800" b="1">
                <a:solidFill>
                  <a:srgbClr val="000000"/>
                </a:solidFill>
                <a:latin typeface="Arial"/>
                <a:ea typeface="Arial"/>
                <a:cs typeface="Arial"/>
              </a:rPr>
              <a:t>Permitted interpretation</a:t>
            </a:r>
          </a:p>
        </p:txBody>
      </p:sp>
      <p:sp>
        <p:nvSpPr>
          <p:cNvPr id="6" name="">
            <a:extLst xmlns:a="http://schemas.openxmlformats.org/drawingml/2006/main">
              <a:ext uri="{FF2B5EF4-FFF2-40B4-BE49-F238E27FC236}">
                <a16:creationId xmlns:a16="http://schemas.microsoft.com/office/drawing/2014/main" id="{BEF074B1-05B0-4D3E-9A73-F6844A721622}"/>
              </a:ext>
            </a:extLst>
          </p:cNvPr>
          <p:cNvSpPr>
            <a:spLocks xmlns:a="http://schemas.openxmlformats.org/drawingml/2006/main" noGrp="1"/>
          </p:cNvSpPr>
          <p:nvPr/>
        </p:nvSpPr>
        <p:spPr>
          <a:xfrm xmlns:a="http://schemas.openxmlformats.org/drawingml/2006/main">
            <a:off x="7753350" y="24193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150111B-B8D5-47A2-914B-D7466B91945C}"/>
              </a:ext>
            </a:extLst>
          </p:cNvPr>
          <p:cNvSpPr>
            <a:spLocks xmlns:a="http://schemas.openxmlformats.org/drawingml/2006/main" noGrp="1"/>
          </p:cNvSpPr>
          <p:nvPr/>
        </p:nvSpPr>
        <p:spPr>
          <a:xfrm xmlns:a="http://schemas.openxmlformats.org/drawingml/2006/main">
            <a:off x="8001000" y="2333625"/>
            <a:ext cx="2990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Controlled engineering demonstration</a:t>
            </a:r>
          </a:p>
        </p:txBody>
      </p:sp>
      <p:sp>
        <p:nvSpPr>
          <p:cNvPr id="8" name="">
            <a:extLst xmlns:a="http://schemas.openxmlformats.org/drawingml/2006/main">
              <a:ext uri="{FF2B5EF4-FFF2-40B4-BE49-F238E27FC236}">
                <a16:creationId xmlns:a16="http://schemas.microsoft.com/office/drawing/2014/main" id="{493BE559-43CA-46B9-905A-33DCA7D2878D}"/>
              </a:ext>
            </a:extLst>
          </p:cNvPr>
          <p:cNvSpPr>
            <a:spLocks xmlns:a="http://schemas.openxmlformats.org/drawingml/2006/main" noGrp="1"/>
          </p:cNvSpPr>
          <p:nvPr/>
        </p:nvSpPr>
        <p:spPr>
          <a:xfrm xmlns:a="http://schemas.openxmlformats.org/drawingml/2006/main">
            <a:off x="7753350" y="30861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2F1C35-3C8F-47D2-9657-8FBF86C79CFE}"/>
              </a:ext>
            </a:extLst>
          </p:cNvPr>
          <p:cNvSpPr>
            <a:spLocks xmlns:a="http://schemas.openxmlformats.org/drawingml/2006/main" noGrp="1"/>
          </p:cNvSpPr>
          <p:nvPr/>
        </p:nvSpPr>
        <p:spPr>
          <a:xfrm xmlns:a="http://schemas.openxmlformats.org/drawingml/2006/main">
            <a:off x="8001000" y="3000375"/>
            <a:ext cx="2990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Weather and night diagnostics</a:t>
            </a:r>
          </a:p>
        </p:txBody>
      </p:sp>
      <p:sp>
        <p:nvSpPr>
          <p:cNvPr id="10" name="">
            <a:extLst xmlns:a="http://schemas.openxmlformats.org/drawingml/2006/main">
              <a:ext uri="{FF2B5EF4-FFF2-40B4-BE49-F238E27FC236}">
                <a16:creationId xmlns:a16="http://schemas.microsoft.com/office/drawing/2014/main" id="{24275749-BCA7-4690-82E9-D28ACFF70BF7}"/>
              </a:ext>
            </a:extLst>
          </p:cNvPr>
          <p:cNvSpPr>
            <a:spLocks xmlns:a="http://schemas.openxmlformats.org/drawingml/2006/main" noGrp="1"/>
          </p:cNvSpPr>
          <p:nvPr/>
        </p:nvSpPr>
        <p:spPr>
          <a:xfrm xmlns:a="http://schemas.openxmlformats.org/drawingml/2006/main">
            <a:off x="7753350" y="37528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4AADD96-C639-44AE-A7C6-75048A0B58E8}"/>
              </a:ext>
            </a:extLst>
          </p:cNvPr>
          <p:cNvSpPr>
            <a:spLocks xmlns:a="http://schemas.openxmlformats.org/drawingml/2006/main" noGrp="1"/>
          </p:cNvSpPr>
          <p:nvPr/>
        </p:nvSpPr>
        <p:spPr>
          <a:xfrm xmlns:a="http://schemas.openxmlformats.org/drawingml/2006/main">
            <a:off x="8001000" y="3667125"/>
            <a:ext cx="2990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000000"/>
                </a:solidFill>
                <a:latin typeface="Arial"/>
                <a:ea typeface="Arial"/>
                <a:cs typeface="Arial"/>
              </a:defRPr>
            </a:pPr>
            <a:r>
              <a:rPr sz="1500" b="0">
                <a:solidFill>
                  <a:srgbClr val="000000"/>
                </a:solidFill>
                <a:latin typeface="Arial"/>
                <a:ea typeface="Arial"/>
                <a:cs typeface="Arial"/>
              </a:rPr>
              <a:t>Qualitative presentation asset</a:t>
            </a:r>
          </a:p>
        </p:txBody>
      </p:sp>
      <p:sp>
        <p:nvSpPr>
          <p:cNvPr id="12" name="">
            <a:extLst xmlns:a="http://schemas.openxmlformats.org/drawingml/2006/main">
              <a:ext uri="{FF2B5EF4-FFF2-40B4-BE49-F238E27FC236}">
                <a16:creationId xmlns:a16="http://schemas.microsoft.com/office/drawing/2014/main" id="{30B8A5A4-9E7D-448A-B31A-CB663EB448DE}"/>
              </a:ext>
            </a:extLst>
          </p:cNvPr>
          <p:cNvSpPr>
            <a:spLocks xmlns:a="http://schemas.openxmlformats.org/drawingml/2006/main" noGrp="1"/>
          </p:cNvSpPr>
          <p:nvPr/>
        </p:nvSpPr>
        <p:spPr>
          <a:xfrm xmlns:a="http://schemas.openxmlformats.org/drawingml/2006/main">
            <a:off x="7753350" y="44386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D05A5A"/>
                </a:solidFill>
                <a:latin typeface="Arial"/>
                <a:ea typeface="Arial"/>
                <a:cs typeface="Arial"/>
              </a:defRPr>
            </a:pPr>
            <a:r>
              <a:rPr sz="1350" b="1">
                <a:solidFill>
                  <a:srgbClr val="D05A5A"/>
                </a:solidFill>
                <a:latin typeface="Arial"/>
                <a:ea typeface="Arial"/>
                <a:cs typeface="Arial"/>
              </a:rPr>
              <a:t>Not permitted</a:t>
            </a:r>
          </a:p>
        </p:txBody>
      </p:sp>
      <p:sp>
        <p:nvSpPr>
          <p:cNvPr id="13" name="">
            <a:extLst xmlns:a="http://schemas.openxmlformats.org/drawingml/2006/main">
              <a:ext uri="{FF2B5EF4-FFF2-40B4-BE49-F238E27FC236}">
                <a16:creationId xmlns:a16="http://schemas.microsoft.com/office/drawing/2014/main" id="{91C4C27F-0FC8-4ABF-B6AC-A66C0C47F737}"/>
              </a:ext>
            </a:extLst>
          </p:cNvPr>
          <p:cNvSpPr>
            <a:spLocks xmlns:a="http://schemas.openxmlformats.org/drawingml/2006/main" noGrp="1"/>
          </p:cNvSpPr>
          <p:nvPr/>
        </p:nvSpPr>
        <p:spPr>
          <a:xfrm xmlns:a="http://schemas.openxmlformats.org/drawingml/2006/main">
            <a:off x="9144000" y="4381500"/>
            <a:ext cx="1952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25"/>
          </a:bodyPr>
          <a:lstStyle xmlns:a="http://schemas.openxmlformats.org/drawingml/2006/main"/>
          <a:p xmlns:a="http://schemas.openxmlformats.org/drawingml/2006/main">
            <a:pPr algn="l">
              <a:buNone/>
              <a:defRPr sz="1350" b="0">
                <a:solidFill>
                  <a:srgbClr val="D05A5A"/>
                </a:solidFill>
                <a:latin typeface="Arial"/>
                <a:ea typeface="Arial"/>
                <a:cs typeface="Arial"/>
              </a:defRPr>
            </a:pPr>
            <a:r>
              <a:rPr sz="1350" b="0">
                <a:solidFill>
                  <a:srgbClr val="D05A5A"/>
                </a:solidFill>
                <a:latin typeface="Arial"/>
                <a:ea typeface="Arial"/>
                <a:cs typeface="Arial"/>
              </a:rPr>
              <a:t>Direct numerical comparison with ACDC or DAWN</a:t>
            </a:r>
          </a:p>
        </p:txBody>
      </p:sp>
      <p:sp>
        <p:nvSpPr>
          <p:cNvPr id="14" name="">
            <a:extLst xmlns:a="http://schemas.openxmlformats.org/drawingml/2006/main">
              <a:ext uri="{FF2B5EF4-FFF2-40B4-BE49-F238E27FC236}">
                <a16:creationId xmlns:a16="http://schemas.microsoft.com/office/drawing/2014/main" id="{745AC146-027E-4964-B6A0-9EAC1A2770E0}"/>
              </a:ext>
            </a:extLst>
          </p:cNvPr>
          <p:cNvSpPr>
            <a:spLocks xmlns:a="http://schemas.openxmlformats.org/drawingml/2006/main" noGrp="1"/>
          </p:cNvSpPr>
          <p:nvPr/>
        </p:nvSpPr>
        <p:spPr>
          <a:xfrm xmlns:a="http://schemas.openxmlformats.org/drawingml/2006/main">
            <a:off x="400050" y="5715000"/>
            <a:ext cx="1099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000000"/>
                </a:solidFill>
                <a:latin typeface="Arial"/>
                <a:ea typeface="Arial"/>
                <a:cs typeface="Arial"/>
              </a:defRPr>
            </a:pPr>
            <a:r>
              <a:rPr sz="1650" b="1">
                <a:solidFill>
                  <a:srgbClr val="000000"/>
                </a:solidFill>
                <a:latin typeface="Arial"/>
                <a:ea typeface="Arial"/>
                <a:cs typeface="Arial"/>
              </a:rPr>
              <a:t>Regular shader reflections ≠ irregular glare, spray, lens droplets or sensor noise.</a:t>
            </a:r>
          </a:p>
        </p:txBody>
      </p:sp>
    </p:spTree>
    <p:extLst>
      <p:ext uri="{BB962C8B-B14F-4D97-AF65-F5344CB8AC3E}">
        <p14:creationId xmlns:p14="http://schemas.microsoft.com/office/powerpoint/2010/main" val="8517960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699B4CC-2971-4B88-A90C-E19F135B0E50}"/>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Four limits bound every conclusion</a:t>
            </a:r>
          </a:p>
        </p:txBody>
      </p:sp>
      <p:sp>
        <p:nvSpPr>
          <p:cNvPr id="2" name="">
            <a:extLst xmlns:a="http://schemas.openxmlformats.org/drawingml/2006/main">
              <a:ext uri="{FF2B5EF4-FFF2-40B4-BE49-F238E27FC236}">
                <a16:creationId xmlns:a16="http://schemas.microsoft.com/office/drawing/2014/main" id="{47B00979-CA50-4ADC-8286-0B178397E158}"/>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F4C326A9-E466-473F-906B-BC1D95E844B6}"/>
              </a:ext>
            </a:extLst>
          </p:cNvPr>
          <p:cNvSpPr>
            <a:spLocks xmlns:a="http://schemas.openxmlformats.org/drawingml/2006/main" noGrp="1"/>
          </p:cNvSpPr>
          <p:nvPr/>
        </p:nvSpPr>
        <p:spPr>
          <a:xfrm xmlns:a="http://schemas.openxmlformats.org/drawingml/2006/main">
            <a:off x="400050" y="1476375"/>
            <a:ext cx="5257800" cy="161925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1EF5C3-20F5-4661-833B-32744707F88C}"/>
              </a:ext>
            </a:extLst>
          </p:cNvPr>
          <p:cNvSpPr>
            <a:spLocks xmlns:a="http://schemas.openxmlformats.org/drawingml/2006/main" noGrp="1"/>
          </p:cNvSpPr>
          <p:nvPr/>
        </p:nvSpPr>
        <p:spPr>
          <a:xfrm xmlns:a="http://schemas.openxmlformats.org/drawingml/2006/main">
            <a:off x="628650" y="16859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E6AE0F8-E569-4C58-BAE0-5464635DBB64}"/>
              </a:ext>
            </a:extLst>
          </p:cNvPr>
          <p:cNvSpPr>
            <a:spLocks xmlns:a="http://schemas.openxmlformats.org/drawingml/2006/main" noGrp="1"/>
          </p:cNvSpPr>
          <p:nvPr/>
        </p:nvSpPr>
        <p:spPr>
          <a:xfrm xmlns:a="http://schemas.openxmlformats.org/drawingml/2006/main">
            <a:off x="1276350" y="1666875"/>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l">
              <a:buNone/>
              <a:defRPr sz="1875" b="1">
                <a:solidFill>
                  <a:srgbClr val="000000"/>
                </a:solidFill>
                <a:latin typeface="Arial"/>
                <a:ea typeface="Arial"/>
                <a:cs typeface="Arial"/>
              </a:defRPr>
            </a:pPr>
            <a:r>
              <a:rPr sz="1875" b="1">
                <a:solidFill>
                  <a:srgbClr val="000000"/>
                </a:solidFill>
                <a:latin typeface="Arial"/>
                <a:ea typeface="Arial"/>
                <a:cs typeface="Arial"/>
              </a:rPr>
              <a:t>No independent hold-out</a:t>
            </a:r>
          </a:p>
        </p:txBody>
      </p:sp>
      <p:sp>
        <p:nvSpPr>
          <p:cNvPr id="6" name="">
            <a:extLst xmlns:a="http://schemas.openxmlformats.org/drawingml/2006/main">
              <a:ext uri="{FF2B5EF4-FFF2-40B4-BE49-F238E27FC236}">
                <a16:creationId xmlns:a16="http://schemas.microsoft.com/office/drawing/2014/main" id="{8CC5E323-5F97-42C1-875C-DDE965A30C9E}"/>
              </a:ext>
            </a:extLst>
          </p:cNvPr>
          <p:cNvSpPr>
            <a:spLocks xmlns:a="http://schemas.openxmlformats.org/drawingml/2006/main" noGrp="1"/>
          </p:cNvSpPr>
          <p:nvPr/>
        </p:nvSpPr>
        <p:spPr>
          <a:xfrm xmlns:a="http://schemas.openxmlformats.org/drawingml/2006/main">
            <a:off x="1276350" y="22002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Metrics are validation-bound estimates.</a:t>
            </a:r>
          </a:p>
        </p:txBody>
      </p:sp>
      <p:sp>
        <p:nvSpPr>
          <p:cNvPr id="7" name="">
            <a:extLst xmlns:a="http://schemas.openxmlformats.org/drawingml/2006/main">
              <a:ext uri="{FF2B5EF4-FFF2-40B4-BE49-F238E27FC236}">
                <a16:creationId xmlns:a16="http://schemas.microsoft.com/office/drawing/2014/main" id="{44111EFC-59D9-46E1-BC62-7B411CF6C586}"/>
              </a:ext>
            </a:extLst>
          </p:cNvPr>
          <p:cNvSpPr>
            <a:spLocks xmlns:a="http://schemas.openxmlformats.org/drawingml/2006/main" noGrp="1"/>
          </p:cNvSpPr>
          <p:nvPr/>
        </p:nvSpPr>
        <p:spPr>
          <a:xfrm xmlns:a="http://schemas.openxmlformats.org/drawingml/2006/main">
            <a:off x="6038850" y="1476375"/>
            <a:ext cx="5257800" cy="16192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3276AF-0E70-4878-8969-E8310C28BBC6}"/>
              </a:ext>
            </a:extLst>
          </p:cNvPr>
          <p:cNvSpPr>
            <a:spLocks xmlns:a="http://schemas.openxmlformats.org/drawingml/2006/main" noGrp="1"/>
          </p:cNvSpPr>
          <p:nvPr/>
        </p:nvSpPr>
        <p:spPr>
          <a:xfrm xmlns:a="http://schemas.openxmlformats.org/drawingml/2006/main">
            <a:off x="6267450" y="16859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3BC2327-82AB-4A39-A6FD-825162A9D3B3}"/>
              </a:ext>
            </a:extLst>
          </p:cNvPr>
          <p:cNvSpPr>
            <a:spLocks xmlns:a="http://schemas.openxmlformats.org/drawingml/2006/main" noGrp="1"/>
          </p:cNvSpPr>
          <p:nvPr/>
        </p:nvSpPr>
        <p:spPr>
          <a:xfrm xmlns:a="http://schemas.openxmlformats.org/drawingml/2006/main">
            <a:off x="6915150" y="1666875"/>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l">
              <a:buNone/>
              <a:defRPr sz="1875" b="1">
                <a:solidFill>
                  <a:srgbClr val="000000"/>
                </a:solidFill>
                <a:latin typeface="Arial"/>
                <a:ea typeface="Arial"/>
                <a:cs typeface="Arial"/>
              </a:defRPr>
            </a:pPr>
            <a:r>
              <a:rPr sz="1875" b="1">
                <a:solidFill>
                  <a:srgbClr val="000000"/>
                </a:solidFill>
                <a:latin typeface="Arial"/>
                <a:ea typeface="Arial"/>
                <a:cs typeface="Arial"/>
              </a:rPr>
              <a:t>Single seed</a:t>
            </a:r>
          </a:p>
        </p:txBody>
      </p:sp>
      <p:sp>
        <p:nvSpPr>
          <p:cNvPr id="10" name="">
            <a:extLst xmlns:a="http://schemas.openxmlformats.org/drawingml/2006/main">
              <a:ext uri="{FF2B5EF4-FFF2-40B4-BE49-F238E27FC236}">
                <a16:creationId xmlns:a16="http://schemas.microsoft.com/office/drawing/2014/main" id="{D28EDDA1-0F13-49D8-98B6-D0035F90169C}"/>
              </a:ext>
            </a:extLst>
          </p:cNvPr>
          <p:cNvSpPr>
            <a:spLocks xmlns:a="http://schemas.openxmlformats.org/drawingml/2006/main" noGrp="1"/>
          </p:cNvSpPr>
          <p:nvPr/>
        </p:nvSpPr>
        <p:spPr>
          <a:xfrm xmlns:a="http://schemas.openxmlformats.org/drawingml/2006/main">
            <a:off x="6915150" y="22002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No variance, confidence interval or significance estimate.</a:t>
            </a:r>
          </a:p>
        </p:txBody>
      </p:sp>
      <p:sp>
        <p:nvSpPr>
          <p:cNvPr id="11" name="">
            <a:extLst xmlns:a="http://schemas.openxmlformats.org/drawingml/2006/main">
              <a:ext uri="{FF2B5EF4-FFF2-40B4-BE49-F238E27FC236}">
                <a16:creationId xmlns:a16="http://schemas.microsoft.com/office/drawing/2014/main" id="{9EB93AD7-F590-4E78-A7B4-1E5CD5374A32}"/>
              </a:ext>
            </a:extLst>
          </p:cNvPr>
          <p:cNvSpPr>
            <a:spLocks xmlns:a="http://schemas.openxmlformats.org/drawingml/2006/main" noGrp="1"/>
          </p:cNvSpPr>
          <p:nvPr/>
        </p:nvSpPr>
        <p:spPr>
          <a:xfrm xmlns:a="http://schemas.openxmlformats.org/drawingml/2006/main">
            <a:off x="400050" y="3429000"/>
            <a:ext cx="5257800" cy="16192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D4CD6B6-447C-4A0C-B6F3-0EE88BB8D4A2}"/>
              </a:ext>
            </a:extLst>
          </p:cNvPr>
          <p:cNvSpPr>
            <a:spLocks xmlns:a="http://schemas.openxmlformats.org/drawingml/2006/main" noGrp="1"/>
          </p:cNvSpPr>
          <p:nvPr/>
        </p:nvSpPr>
        <p:spPr>
          <a:xfrm xmlns:a="http://schemas.openxmlformats.org/drawingml/2006/main">
            <a:off x="628650" y="36385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77625E8-8CD2-4BD6-BFC7-C1686CD292F7}"/>
              </a:ext>
            </a:extLst>
          </p:cNvPr>
          <p:cNvSpPr>
            <a:spLocks xmlns:a="http://schemas.openxmlformats.org/drawingml/2006/main" noGrp="1"/>
          </p:cNvSpPr>
          <p:nvPr/>
        </p:nvSpPr>
        <p:spPr>
          <a:xfrm xmlns:a="http://schemas.openxmlformats.org/drawingml/2006/main">
            <a:off x="1276350" y="36195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l">
              <a:buNone/>
              <a:defRPr sz="1875" b="1">
                <a:solidFill>
                  <a:srgbClr val="000000"/>
                </a:solidFill>
                <a:latin typeface="Arial"/>
                <a:ea typeface="Arial"/>
                <a:cs typeface="Arial"/>
              </a:defRPr>
            </a:pPr>
            <a:r>
              <a:rPr sz="1875" b="1">
                <a:solidFill>
                  <a:srgbClr val="000000"/>
                </a:solidFill>
                <a:latin typeface="Arial"/>
                <a:ea typeface="Arial"/>
                <a:cs typeface="Arial"/>
              </a:rPr>
              <a:t>Unequal support</a:t>
            </a:r>
          </a:p>
        </p:txBody>
      </p:sp>
      <p:sp>
        <p:nvSpPr>
          <p:cNvPr id="14" name="">
            <a:extLst xmlns:a="http://schemas.openxmlformats.org/drawingml/2006/main">
              <a:ext uri="{FF2B5EF4-FFF2-40B4-BE49-F238E27FC236}">
                <a16:creationId xmlns:a16="http://schemas.microsoft.com/office/drawing/2014/main" id="{0E0841B7-F1FE-481A-96DE-448651384E98}"/>
              </a:ext>
            </a:extLst>
          </p:cNvPr>
          <p:cNvSpPr>
            <a:spLocks xmlns:a="http://schemas.openxmlformats.org/drawingml/2006/main" noGrp="1"/>
          </p:cNvSpPr>
          <p:nvPr/>
        </p:nvSpPr>
        <p:spPr>
          <a:xfrm xmlns:a="http://schemas.openxmlformats.org/drawingml/2006/main">
            <a:off x="1276350" y="4152900"/>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Class and condition claims may be unstable.</a:t>
            </a:r>
          </a:p>
        </p:txBody>
      </p:sp>
      <p:sp>
        <p:nvSpPr>
          <p:cNvPr id="15" name="">
            <a:extLst xmlns:a="http://schemas.openxmlformats.org/drawingml/2006/main">
              <a:ext uri="{FF2B5EF4-FFF2-40B4-BE49-F238E27FC236}">
                <a16:creationId xmlns:a16="http://schemas.microsoft.com/office/drawing/2014/main" id="{44008CFA-7D83-48F5-8F25-8211AF5A4910}"/>
              </a:ext>
            </a:extLst>
          </p:cNvPr>
          <p:cNvSpPr>
            <a:spLocks xmlns:a="http://schemas.openxmlformats.org/drawingml/2006/main" noGrp="1"/>
          </p:cNvSpPr>
          <p:nvPr/>
        </p:nvSpPr>
        <p:spPr>
          <a:xfrm xmlns:a="http://schemas.openxmlformats.org/drawingml/2006/main">
            <a:off x="6038850" y="3429000"/>
            <a:ext cx="5257800" cy="16192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2A33DD-3729-44DB-B5D4-1AB16B2178E7}"/>
              </a:ext>
            </a:extLst>
          </p:cNvPr>
          <p:cNvSpPr>
            <a:spLocks xmlns:a="http://schemas.openxmlformats.org/drawingml/2006/main" noGrp="1"/>
          </p:cNvSpPr>
          <p:nvPr/>
        </p:nvSpPr>
        <p:spPr>
          <a:xfrm xmlns:a="http://schemas.openxmlformats.org/drawingml/2006/main">
            <a:off x="6267450" y="36385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03088DA9-E719-4A77-B87E-844AFFF77F84}"/>
              </a:ext>
            </a:extLst>
          </p:cNvPr>
          <p:cNvSpPr>
            <a:spLocks xmlns:a="http://schemas.openxmlformats.org/drawingml/2006/main" noGrp="1"/>
          </p:cNvSpPr>
          <p:nvPr/>
        </p:nvSpPr>
        <p:spPr>
          <a:xfrm xmlns:a="http://schemas.openxmlformats.org/drawingml/2006/main">
            <a:off x="6915150" y="36195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l">
              <a:buNone/>
              <a:defRPr sz="1875" b="1">
                <a:solidFill>
                  <a:srgbClr val="000000"/>
                </a:solidFill>
                <a:latin typeface="Arial"/>
                <a:ea typeface="Arial"/>
                <a:cs typeface="Arial"/>
              </a:defRPr>
            </a:pPr>
            <a:r>
              <a:rPr sz="1875" b="1">
                <a:solidFill>
                  <a:srgbClr val="000000"/>
                </a:solidFill>
                <a:latin typeface="Arial"/>
                <a:ea typeface="Arial"/>
                <a:cs typeface="Arial"/>
              </a:rPr>
              <a:t>Incomplete ledgers</a:t>
            </a:r>
          </a:p>
        </p:txBody>
      </p:sp>
      <p:sp>
        <p:nvSpPr>
          <p:cNvPr id="18" name="">
            <a:extLst xmlns:a="http://schemas.openxmlformats.org/drawingml/2006/main">
              <a:ext uri="{FF2B5EF4-FFF2-40B4-BE49-F238E27FC236}">
                <a16:creationId xmlns:a16="http://schemas.microsoft.com/office/drawing/2014/main" id="{5E515AC1-FD62-46EA-BDAF-9DB5F0A5B3DB}"/>
              </a:ext>
            </a:extLst>
          </p:cNvPr>
          <p:cNvSpPr>
            <a:spLocks xmlns:a="http://schemas.openxmlformats.org/drawingml/2006/main" noGrp="1"/>
          </p:cNvSpPr>
          <p:nvPr/>
        </p:nvSpPr>
        <p:spPr>
          <a:xfrm xmlns:a="http://schemas.openxmlformats.org/drawingml/2006/main">
            <a:off x="6915150" y="4152900"/>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T13 not established; T14–T15 partial.</a:t>
            </a:r>
          </a:p>
        </p:txBody>
      </p:sp>
      <p:sp>
        <p:nvSpPr>
          <p:cNvPr id="19" name="">
            <a:extLst xmlns:a="http://schemas.openxmlformats.org/drawingml/2006/main">
              <a:ext uri="{FF2B5EF4-FFF2-40B4-BE49-F238E27FC236}">
                <a16:creationId xmlns:a16="http://schemas.microsoft.com/office/drawing/2014/main" id="{2F2F1AE8-B72F-4CBA-BA3B-E7D397CA6B58}"/>
              </a:ext>
            </a:extLst>
          </p:cNvPr>
          <p:cNvSpPr>
            <a:spLocks xmlns:a="http://schemas.openxmlformats.org/drawingml/2006/main" noGrp="1"/>
          </p:cNvSpPr>
          <p:nvPr/>
        </p:nvSpPr>
        <p:spPr>
          <a:xfrm xmlns:a="http://schemas.openxmlformats.org/drawingml/2006/main">
            <a:off x="400050" y="5715000"/>
            <a:ext cx="1099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ctr">
              <a:buNone/>
              <a:defRPr sz="1950" b="1">
                <a:solidFill>
                  <a:srgbClr val="D05A5A"/>
                </a:solidFill>
                <a:latin typeface="Arial"/>
                <a:ea typeface="Arial"/>
                <a:cs typeface="Arial"/>
              </a:defRPr>
            </a:pPr>
            <a:r>
              <a:rPr sz="1950" b="1">
                <a:solidFill>
                  <a:srgbClr val="D05A5A"/>
                </a:solidFill>
                <a:latin typeface="Arial"/>
                <a:ea typeface="Arial"/>
                <a:cs typeface="Arial"/>
              </a:rPr>
              <a:t>The study is descriptive and non-causal.</a:t>
            </a:r>
          </a:p>
        </p:txBody>
      </p:sp>
    </p:spTree>
    <p:extLst>
      <p:ext uri="{BB962C8B-B14F-4D97-AF65-F5344CB8AC3E}">
        <p14:creationId xmlns:p14="http://schemas.microsoft.com/office/powerpoint/2010/main" val="18667317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3B759D0-1F3F-4151-AF58-F2E3C78A2018}"/>
              </a:ext>
            </a:extLst>
          </p:cNvPr>
          <p:cNvSpPr>
            <a:spLocks xmlns:a="http://schemas.openxmlformats.org/drawingml/2006/main" noGrp="1"/>
          </p:cNvSpPr>
          <p:nvPr/>
        </p:nvSpPr>
        <p:spPr>
          <a:xfrm xmlns:a="http://schemas.openxmlformats.org/drawingml/2006/main">
            <a:off x="400050" y="32385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286"/>
          </a:bodyPr>
          <a:lstStyle xmlns:a="http://schemas.openxmlformats.org/drawingml/2006/main"/>
          <a:p xmlns:a="http://schemas.openxmlformats.org/drawingml/2006/main">
            <a:pPr algn="l">
              <a:buNone/>
              <a:defRPr sz="2850" b="1">
                <a:solidFill>
                  <a:srgbClr val="000000"/>
                </a:solidFill>
                <a:latin typeface="Arial"/>
                <a:ea typeface="Arial"/>
                <a:cs typeface="Arial"/>
              </a:defRPr>
            </a:pPr>
            <a:r>
              <a:rPr sz="2850" b="1">
                <a:solidFill>
                  <a:srgbClr val="000000"/>
                </a:solidFill>
                <a:latin typeface="Arial"/>
                <a:ea typeface="Arial"/>
                <a:cs typeface="Arial"/>
              </a:rPr>
              <a:t>The contribution is an evidence-controlled evaluation workflow</a:t>
            </a:r>
          </a:p>
        </p:txBody>
      </p:sp>
      <p:sp>
        <p:nvSpPr>
          <p:cNvPr id="2" name="">
            <a:extLst xmlns:a="http://schemas.openxmlformats.org/drawingml/2006/main">
              <a:ext uri="{FF2B5EF4-FFF2-40B4-BE49-F238E27FC236}">
                <a16:creationId xmlns:a16="http://schemas.microsoft.com/office/drawing/2014/main" id="{05618068-37DA-45EE-886D-7FDFB1F1DB81}"/>
              </a:ext>
            </a:extLst>
          </p:cNvPr>
          <p:cNvSpPr>
            <a:spLocks xmlns:a="http://schemas.openxmlformats.org/drawingml/2006/main" noGrp="1"/>
          </p:cNvSpPr>
          <p:nvPr/>
        </p:nvSpPr>
        <p:spPr>
          <a:xfrm xmlns:a="http://schemas.openxmlformats.org/drawingml/2006/main">
            <a:off x="11258550"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5F6670"/>
                </a:solidFill>
                <a:latin typeface="Arial"/>
                <a:ea typeface="Arial"/>
                <a:cs typeface="Arial"/>
              </a:defRPr>
            </a:pPr>
            <a:r>
              <a:rPr sz="975" b="0">
                <a:solidFill>
                  <a:srgbClr val="5F66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76D912E-F1AC-4B67-B35B-EF31A7EA0930}"/>
              </a:ext>
            </a:extLst>
          </p:cNvPr>
          <p:cNvSpPr>
            <a:spLocks xmlns:a="http://schemas.openxmlformats.org/drawingml/2006/main" noGrp="1"/>
          </p:cNvSpPr>
          <p:nvPr/>
        </p:nvSpPr>
        <p:spPr>
          <a:xfrm xmlns:a="http://schemas.openxmlformats.org/drawingml/2006/main">
            <a:off x="400050" y="1571625"/>
            <a:ext cx="3238500" cy="28575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27307A-6FA5-468B-87DF-B3CB86C215E2}"/>
              </a:ext>
            </a:extLst>
          </p:cNvPr>
          <p:cNvSpPr>
            <a:spLocks xmlns:a="http://schemas.openxmlformats.org/drawingml/2006/main" noGrp="1"/>
          </p:cNvSpPr>
          <p:nvPr/>
        </p:nvSpPr>
        <p:spPr>
          <a:xfrm xmlns:a="http://schemas.openxmlformats.org/drawingml/2006/main">
            <a:off x="647700" y="1857375"/>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000000"/>
                </a:solidFill>
                <a:latin typeface="Arial"/>
                <a:ea typeface="Arial"/>
                <a:cs typeface="Arial"/>
              </a:defRPr>
            </a:pPr>
            <a:r>
              <a:rPr sz="2025" b="1">
                <a:solidFill>
                  <a:srgbClr val="000000"/>
                </a:solidFill>
                <a:latin typeface="Arial"/>
                <a:ea typeface="Arial"/>
                <a:cs typeface="Arial"/>
              </a:rPr>
              <a:t>Integrity</a:t>
            </a:r>
          </a:p>
        </p:txBody>
      </p:sp>
      <p:sp>
        <p:nvSpPr>
          <p:cNvPr id="5" name="">
            <a:extLst xmlns:a="http://schemas.openxmlformats.org/drawingml/2006/main">
              <a:ext uri="{FF2B5EF4-FFF2-40B4-BE49-F238E27FC236}">
                <a16:creationId xmlns:a16="http://schemas.microsoft.com/office/drawing/2014/main" id="{18D72FEE-2632-499B-932F-78D89D843C79}"/>
              </a:ext>
            </a:extLst>
          </p:cNvPr>
          <p:cNvSpPr>
            <a:spLocks xmlns:a="http://schemas.openxmlformats.org/drawingml/2006/main" noGrp="1"/>
          </p:cNvSpPr>
          <p:nvPr/>
        </p:nvSpPr>
        <p:spPr>
          <a:xfrm xmlns:a="http://schemas.openxmlformats.org/drawingml/2006/main">
            <a:off x="647700" y="2571750"/>
            <a:ext cx="27432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000000"/>
                </a:solidFill>
                <a:latin typeface="Arial"/>
                <a:ea typeface="Arial"/>
                <a:cs typeface="Arial"/>
              </a:defRPr>
            </a:pPr>
            <a:r>
              <a:rPr sz="1725" b="0">
                <a:solidFill>
                  <a:srgbClr val="000000"/>
                </a:solidFill>
                <a:latin typeface="Arial"/>
                <a:ea typeface="Arial"/>
                <a:cs typeface="Arial"/>
              </a:rPr>
              <a:t>Correct labels non-destructively</a:t>
            </a:r>
          </a:p>
        </p:txBody>
      </p:sp>
      <p:sp>
        <p:nvSpPr>
          <p:cNvPr id="6" name="">
            <a:extLst xmlns:a="http://schemas.openxmlformats.org/drawingml/2006/main">
              <a:ext uri="{FF2B5EF4-FFF2-40B4-BE49-F238E27FC236}">
                <a16:creationId xmlns:a16="http://schemas.microsoft.com/office/drawing/2014/main" id="{A319578E-2960-42E2-BAB4-83F7C826462D}"/>
              </a:ext>
            </a:extLst>
          </p:cNvPr>
          <p:cNvSpPr>
            <a:spLocks xmlns:a="http://schemas.openxmlformats.org/drawingml/2006/main" noGrp="1"/>
          </p:cNvSpPr>
          <p:nvPr/>
        </p:nvSpPr>
        <p:spPr>
          <a:xfrm xmlns:a="http://schemas.openxmlformats.org/drawingml/2006/main">
            <a:off x="4095750" y="1571625"/>
            <a:ext cx="3238500" cy="28575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9FD314-5A9B-4523-BBF7-08A31B9085EC}"/>
              </a:ext>
            </a:extLst>
          </p:cNvPr>
          <p:cNvSpPr>
            <a:spLocks xmlns:a="http://schemas.openxmlformats.org/drawingml/2006/main" noGrp="1"/>
          </p:cNvSpPr>
          <p:nvPr/>
        </p:nvSpPr>
        <p:spPr>
          <a:xfrm xmlns:a="http://schemas.openxmlformats.org/drawingml/2006/main">
            <a:off x="4343400" y="1857375"/>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000000"/>
                </a:solidFill>
                <a:latin typeface="Arial"/>
                <a:ea typeface="Arial"/>
                <a:cs typeface="Arial"/>
              </a:defRPr>
            </a:pPr>
            <a:r>
              <a:rPr sz="2025" b="1">
                <a:solidFill>
                  <a:srgbClr val="000000"/>
                </a:solidFill>
                <a:latin typeface="Arial"/>
                <a:ea typeface="Arial"/>
                <a:cs typeface="Arial"/>
              </a:rPr>
              <a:t>Traceability</a:t>
            </a:r>
          </a:p>
        </p:txBody>
      </p:sp>
      <p:sp>
        <p:nvSpPr>
          <p:cNvPr id="8" name="">
            <a:extLst xmlns:a="http://schemas.openxmlformats.org/drawingml/2006/main">
              <a:ext uri="{FF2B5EF4-FFF2-40B4-BE49-F238E27FC236}">
                <a16:creationId xmlns:a16="http://schemas.microsoft.com/office/drawing/2014/main" id="{6916B18C-0355-4B4E-981F-8A000ECCFC26}"/>
              </a:ext>
            </a:extLst>
          </p:cNvPr>
          <p:cNvSpPr>
            <a:spLocks xmlns:a="http://schemas.openxmlformats.org/drawingml/2006/main" noGrp="1"/>
          </p:cNvSpPr>
          <p:nvPr/>
        </p:nvSpPr>
        <p:spPr>
          <a:xfrm xmlns:a="http://schemas.openxmlformats.org/drawingml/2006/main">
            <a:off x="4343400" y="2571750"/>
            <a:ext cx="27432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000000"/>
                </a:solidFill>
                <a:latin typeface="Arial"/>
                <a:ea typeface="Arial"/>
                <a:cs typeface="Arial"/>
              </a:defRPr>
            </a:pPr>
            <a:r>
              <a:rPr sz="1725" b="0">
                <a:solidFill>
                  <a:srgbClr val="000000"/>
                </a:solidFill>
                <a:latin typeface="Arial"/>
                <a:ea typeface="Arial"/>
                <a:cs typeface="Arial"/>
              </a:rPr>
              <a:t>Lock checkpoints and commit lineage</a:t>
            </a:r>
          </a:p>
        </p:txBody>
      </p:sp>
      <p:sp>
        <p:nvSpPr>
          <p:cNvPr id="9" name="">
            <a:extLst xmlns:a="http://schemas.openxmlformats.org/drawingml/2006/main">
              <a:ext uri="{FF2B5EF4-FFF2-40B4-BE49-F238E27FC236}">
                <a16:creationId xmlns:a16="http://schemas.microsoft.com/office/drawing/2014/main" id="{1D7418FA-5BB7-4BE7-A622-077BDBFDDC77}"/>
              </a:ext>
            </a:extLst>
          </p:cNvPr>
          <p:cNvSpPr>
            <a:spLocks xmlns:a="http://schemas.openxmlformats.org/drawingml/2006/main" noGrp="1"/>
          </p:cNvSpPr>
          <p:nvPr/>
        </p:nvSpPr>
        <p:spPr>
          <a:xfrm xmlns:a="http://schemas.openxmlformats.org/drawingml/2006/main">
            <a:off x="7791450" y="1571625"/>
            <a:ext cx="3238500" cy="28575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51269A-7317-45DF-B357-D76EC7140882}"/>
              </a:ext>
            </a:extLst>
          </p:cNvPr>
          <p:cNvSpPr>
            <a:spLocks xmlns:a="http://schemas.openxmlformats.org/drawingml/2006/main" noGrp="1"/>
          </p:cNvSpPr>
          <p:nvPr/>
        </p:nvSpPr>
        <p:spPr>
          <a:xfrm xmlns:a="http://schemas.openxmlformats.org/drawingml/2006/main">
            <a:off x="8039100" y="1857375"/>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000000"/>
                </a:solidFill>
                <a:latin typeface="Arial"/>
                <a:ea typeface="Arial"/>
                <a:cs typeface="Arial"/>
              </a:defRPr>
            </a:pPr>
            <a:r>
              <a:rPr sz="2025" b="1">
                <a:solidFill>
                  <a:srgbClr val="000000"/>
                </a:solidFill>
                <a:latin typeface="Arial"/>
                <a:ea typeface="Arial"/>
                <a:cs typeface="Arial"/>
              </a:rPr>
              <a:t>Validity</a:t>
            </a:r>
          </a:p>
        </p:txBody>
      </p:sp>
      <p:sp>
        <p:nvSpPr>
          <p:cNvPr id="11" name="">
            <a:extLst xmlns:a="http://schemas.openxmlformats.org/drawingml/2006/main">
              <a:ext uri="{FF2B5EF4-FFF2-40B4-BE49-F238E27FC236}">
                <a16:creationId xmlns:a16="http://schemas.microsoft.com/office/drawing/2014/main" id="{25A36CA4-E0B9-4152-858D-89ED54508CF2}"/>
              </a:ext>
            </a:extLst>
          </p:cNvPr>
          <p:cNvSpPr>
            <a:spLocks xmlns:a="http://schemas.openxmlformats.org/drawingml/2006/main" noGrp="1"/>
          </p:cNvSpPr>
          <p:nvPr/>
        </p:nvSpPr>
        <p:spPr>
          <a:xfrm xmlns:a="http://schemas.openxmlformats.org/drawingml/2006/main">
            <a:off x="8039100" y="2571750"/>
            <a:ext cx="27432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000000"/>
                </a:solidFill>
                <a:latin typeface="Arial"/>
                <a:ea typeface="Arial"/>
                <a:cs typeface="Arial"/>
              </a:defRPr>
            </a:pPr>
            <a:r>
              <a:rPr sz="1725" b="0">
                <a:solidFill>
                  <a:srgbClr val="000000"/>
                </a:solidFill>
                <a:latin typeface="Arial"/>
                <a:ea typeface="Arial"/>
                <a:cs typeface="Arial"/>
              </a:rPr>
              <a:t>Keep simulation outside real-data metrics</a:t>
            </a:r>
          </a:p>
        </p:txBody>
      </p:sp>
      <p:sp>
        <p:nvSpPr>
          <p:cNvPr id="12" name="">
            <a:extLst xmlns:a="http://schemas.openxmlformats.org/drawingml/2006/main">
              <a:ext uri="{FF2B5EF4-FFF2-40B4-BE49-F238E27FC236}">
                <a16:creationId xmlns:a16="http://schemas.microsoft.com/office/drawing/2014/main" id="{6CC8A221-E7DF-4C60-9634-BB6FED94036F}"/>
              </a:ext>
            </a:extLst>
          </p:cNvPr>
          <p:cNvSpPr>
            <a:spLocks xmlns:a="http://schemas.openxmlformats.org/drawingml/2006/main" noGrp="1"/>
          </p:cNvSpPr>
          <p:nvPr/>
        </p:nvSpPr>
        <p:spPr>
          <a:xfrm xmlns:a="http://schemas.openxmlformats.org/drawingml/2006/main">
            <a:off x="400050" y="4953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125"/>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Required extension</a:t>
            </a:r>
          </a:p>
        </p:txBody>
      </p:sp>
      <p:sp>
        <p:nvSpPr>
          <p:cNvPr id="13" name="">
            <a:extLst xmlns:a="http://schemas.openxmlformats.org/drawingml/2006/main">
              <a:ext uri="{FF2B5EF4-FFF2-40B4-BE49-F238E27FC236}">
                <a16:creationId xmlns:a16="http://schemas.microsoft.com/office/drawing/2014/main" id="{47E2AAAF-D2CD-40DC-A0F1-DBB3D4F6DB49}"/>
              </a:ext>
            </a:extLst>
          </p:cNvPr>
          <p:cNvSpPr>
            <a:spLocks xmlns:a="http://schemas.openxmlformats.org/drawingml/2006/main" noGrp="1"/>
          </p:cNvSpPr>
          <p:nvPr/>
        </p:nvSpPr>
        <p:spPr>
          <a:xfrm xmlns:a="http://schemas.openxmlformats.org/drawingml/2006/main">
            <a:off x="1905000" y="4857750"/>
            <a:ext cx="948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000000"/>
                </a:solidFill>
                <a:latin typeface="Arial"/>
                <a:ea typeface="Arial"/>
                <a:cs typeface="Arial"/>
              </a:defRPr>
            </a:pPr>
            <a:r>
              <a:rPr sz="1725" b="1">
                <a:solidFill>
                  <a:srgbClr val="000000"/>
                </a:solidFill>
                <a:latin typeface="Arial"/>
                <a:ea typeface="Arial"/>
                <a:cs typeface="Arial"/>
              </a:rPr>
              <a:t>Multiple seeds · pre-registered selection · untouched hold-out · matched error taxonomy</a:t>
            </a:r>
          </a:p>
        </p:txBody>
      </p:sp>
    </p:spTree>
    <p:extLst>
      <p:ext uri="{BB962C8B-B14F-4D97-AF65-F5344CB8AC3E}">
        <p14:creationId xmlns:p14="http://schemas.microsoft.com/office/powerpoint/2010/main" val="19429955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A5689D-B69E-4C57-BC22-290D63BB4667}"/>
              </a:ext>
            </a:extLst>
          </p:cNvPr>
          <p:cNvSpPr>
            <a:spLocks xmlns:a="http://schemas.openxmlformats.org/drawingml/2006/main" noGrp="1"/>
          </p:cNvSpPr>
          <p:nvPr/>
        </p:nvSpPr>
        <p:spPr>
          <a:xfrm xmlns:a="http://schemas.openxmlformats.org/drawingml/2006/main">
            <a:off x="400050" y="4000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3D8DFF"/>
                </a:solidFill>
                <a:latin typeface="Arial"/>
                <a:ea typeface="Arial"/>
                <a:cs typeface="Arial"/>
              </a:defRPr>
            </a:pPr>
            <a:r>
              <a:rPr sz="1050" b="1">
                <a:solidFill>
                  <a:srgbClr val="3D8DFF"/>
                </a:solidFill>
                <a:latin typeface="Arial"/>
                <a:ea typeface="Arial"/>
                <a:cs typeface="Arial"/>
              </a:rPr>
              <a:t>VIVA DISCUSSION</a:t>
            </a:r>
          </a:p>
        </p:txBody>
      </p:sp>
      <p:sp>
        <p:nvSpPr>
          <p:cNvPr id="2" name="">
            <a:extLst xmlns:a="http://schemas.openxmlformats.org/drawingml/2006/main">
              <a:ext uri="{FF2B5EF4-FFF2-40B4-BE49-F238E27FC236}">
                <a16:creationId xmlns:a16="http://schemas.microsoft.com/office/drawing/2014/main" id="{8CCE3DA0-A9B1-423F-BC5C-58934F11E9A4}"/>
              </a:ext>
            </a:extLst>
          </p:cNvPr>
          <p:cNvSpPr>
            <a:spLocks xmlns:a="http://schemas.openxmlformats.org/drawingml/2006/main" noGrp="1"/>
          </p:cNvSpPr>
          <p:nvPr/>
        </p:nvSpPr>
        <p:spPr>
          <a:xfrm xmlns:a="http://schemas.openxmlformats.org/drawingml/2006/main">
            <a:off x="400050" y="1571625"/>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295"/>
          </a:bodyPr>
          <a:lstStyle xmlns:a="http://schemas.openxmlformats.org/drawingml/2006/main"/>
          <a:p xmlns:a="http://schemas.openxmlformats.org/drawingml/2006/main">
            <a:pPr algn="l">
              <a:buNone/>
              <a:defRPr sz="3900" b="1">
                <a:solidFill>
                  <a:srgbClr val="000000"/>
                </a:solidFill>
                <a:latin typeface="Arial"/>
                <a:ea typeface="Arial"/>
                <a:cs typeface="Arial"/>
              </a:defRPr>
            </a:pPr>
            <a:r>
              <a:rPr sz="3900" b="1">
                <a:solidFill>
                  <a:srgbClr val="000000"/>
                </a:solidFill>
                <a:latin typeface="Arial"/>
                <a:ea typeface="Arial"/>
                <a:cs typeface="Arial"/>
              </a:rPr>
              <a:t>The evidence supports domain dependence—not universal robustness.</a:t>
            </a:r>
          </a:p>
        </p:txBody>
      </p:sp>
      <p:sp>
        <p:nvSpPr>
          <p:cNvPr id="3" name="">
            <a:extLst xmlns:a="http://schemas.openxmlformats.org/drawingml/2006/main">
              <a:ext uri="{FF2B5EF4-FFF2-40B4-BE49-F238E27FC236}">
                <a16:creationId xmlns:a16="http://schemas.microsoft.com/office/drawing/2014/main" id="{46674F82-4A53-4C2E-A56B-CEC848048DED}"/>
              </a:ext>
            </a:extLst>
          </p:cNvPr>
          <p:cNvSpPr>
            <a:spLocks xmlns:a="http://schemas.openxmlformats.org/drawingml/2006/main" noGrp="1"/>
          </p:cNvSpPr>
          <p:nvPr/>
        </p:nvSpPr>
        <p:spPr>
          <a:xfrm xmlns:a="http://schemas.openxmlformats.org/drawingml/2006/main">
            <a:off x="400050" y="4953000"/>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0">
                <a:solidFill>
                  <a:srgbClr val="5F6670"/>
                </a:solidFill>
                <a:latin typeface="Arial"/>
                <a:ea typeface="Arial"/>
                <a:cs typeface="Arial"/>
              </a:defRPr>
            </a:pPr>
            <a:r>
              <a:rPr sz="2100" b="0">
                <a:solidFill>
                  <a:srgbClr val="5F6670"/>
                </a:solidFill>
                <a:latin typeface="Arial"/>
                <a:ea typeface="Arial"/>
                <a:cs typeface="Arial"/>
              </a:rPr>
              <a:t>Questions and methodological challenge</a:t>
            </a:r>
          </a:p>
        </p:txBody>
      </p:sp>
      <p:sp>
        <p:nvSpPr>
          <p:cNvPr id="4" name="">
            <a:extLst xmlns:a="http://schemas.openxmlformats.org/drawingml/2006/main">
              <a:ext uri="{FF2B5EF4-FFF2-40B4-BE49-F238E27FC236}">
                <a16:creationId xmlns:a16="http://schemas.microsoft.com/office/drawing/2014/main" id="{7160536F-F126-410F-A9C8-5A6B3D02F94A}"/>
              </a:ext>
            </a:extLst>
          </p:cNvPr>
          <p:cNvSpPr>
            <a:spLocks xmlns:a="http://schemas.openxmlformats.org/drawingml/2006/main" noGrp="1"/>
          </p:cNvSpPr>
          <p:nvPr/>
        </p:nvSpPr>
        <p:spPr>
          <a:xfrm xmlns:a="http://schemas.openxmlformats.org/drawingml/2006/main">
            <a:off x="400050" y="5905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0">
                <a:solidFill>
                  <a:srgbClr val="000000"/>
                </a:solidFill>
                <a:latin typeface="Arial"/>
                <a:ea typeface="Arial"/>
                <a:cs typeface="Arial"/>
              </a:defRPr>
            </a:pPr>
            <a:r>
              <a:rPr sz="1275" b="0">
                <a:solidFill>
                  <a:srgbClr val="000000"/>
                </a:solidFill>
                <a:latin typeface="Arial"/>
                <a:ea typeface="Arial"/>
                <a:cs typeface="Arial"/>
              </a:rPr>
              <a:t>Varis Jahirbhai Kureshi · 35042321</a:t>
            </a:r>
          </a:p>
        </p:txBody>
      </p:sp>
    </p:spTree>
    <p:extLst>
      <p:ext uri="{BB962C8B-B14F-4D97-AF65-F5344CB8AC3E}">
        <p14:creationId xmlns:p14="http://schemas.microsoft.com/office/powerpoint/2010/main" val="1923651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2026-08-30T20:08:45.6080000Z</dcterms:created>
  <dcterms:modified xsi:type="dcterms:W3CDTF">2026-08-30T20:08:45.6080000Z</dcterms:modified>
</coreProperties>
</file>